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64" r:id="rId9"/>
    <p:sldId id="273" r:id="rId10"/>
    <p:sldId id="274" r:id="rId11"/>
    <p:sldId id="262" r:id="rId12"/>
    <p:sldId id="263" r:id="rId13"/>
    <p:sldId id="275" r:id="rId14"/>
    <p:sldId id="277" r:id="rId15"/>
    <p:sldId id="267" r:id="rId16"/>
    <p:sldId id="269" r:id="rId17"/>
  </p:sldIdLst>
  <p:sldSz cx="12192000" cy="6858000"/>
  <p:notesSz cx="12192000" cy="6858000"/>
  <p:embeddedFontLs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iVGhCrf2v17o/PY4/uoxnTXy3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7622314-B828-07D7-5333-CB9B5BF6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B7C5D10A-587D-95DD-5F5A-A9933FB5C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A07C0D51-4F3A-18F5-E197-5F730F166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2948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C9317EF-D5EA-9496-F52D-9A3174CA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7ADFF19D-64B3-E957-398A-DBBE8711B8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3795E43B-CA50-7E46-72F1-94E70733E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4478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730A2531-66EC-0421-DE87-43E2C79E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8BD2805E-2FAE-F96E-95EF-8149DE577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BC8F8BE1-9A15-B06C-B678-6723CD5DB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5123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23A92E2-42EA-223E-0A42-872CBFE86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70ACCF05-10D4-E9D7-7161-BB3ECD45BE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8D3E9B8C-69A1-3714-0CBB-7AFA9A2DF9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988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81FECB3C-BFD4-6614-2525-8A279082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FD485D73-2950-1E5A-BF86-E526A9D0F5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AAF85B95-5581-F0A9-2028-66F6B509E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6797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D6903A0-2440-1ED7-F2FE-B32173C5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F81F1960-05A4-FE62-C6BD-8FADCFD42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9A9CECD5-3504-6FBF-E5DA-870127F15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828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78982BB-C7CF-5057-DBF6-73D42738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7004FE44-B961-4CE2-659C-409F20395C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D037F84C-86C2-34DE-7C74-AED35DA1E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355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BD5F490-5115-84D0-C309-89DC54DA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DB12A875-C25B-F8C5-9376-355955205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A6B1F4CD-AB74-C495-6111-2E2699982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2051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23653B1-1922-E165-93D3-6A43C99C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CB37D425-3424-F2EC-4D14-6111B493A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C9521C2C-561E-0477-4FEF-4F0C8FC709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417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061880E7-7E73-77DF-66DE-3532168BA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356805F8-4EC5-81BC-A8B2-D1C8CA8F9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CD84CC26-F66C-5E30-D68B-161BAA237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8678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5354A6F-3FEA-E0E5-E17A-2BDAF074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000CDC7B-D69E-A2FB-8B9A-2E5050030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91C1FA92-DE3B-4BBC-A8E2-7EB963F10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73672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A56608C-2E95-C8E0-DEDE-23CF10FB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>
            <a:extLst>
              <a:ext uri="{FF2B5EF4-FFF2-40B4-BE49-F238E27FC236}">
                <a16:creationId xmlns:a16="http://schemas.microsoft.com/office/drawing/2014/main" id="{8C831C83-783D-F309-5E3D-467EC98BE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:notes">
            <a:extLst>
              <a:ext uri="{FF2B5EF4-FFF2-40B4-BE49-F238E27FC236}">
                <a16:creationId xmlns:a16="http://schemas.microsoft.com/office/drawing/2014/main" id="{C4DF65EB-3271-69BD-77C7-9B84C6322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550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/>
          <p:nvPr/>
        </p:nvSpPr>
        <p:spPr>
          <a:xfrm>
            <a:off x="0" y="4323810"/>
            <a:ext cx="1744652" cy="778589"/>
          </a:xfrm>
          <a:custGeom>
            <a:avLst/>
            <a:gdLst/>
            <a:ahLst/>
            <a:cxnLst/>
            <a:rect l="l" t="t" r="r" b="b"/>
            <a:pathLst>
              <a:path w="372" h="166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body" idx="2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2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3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4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body" idx="1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2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1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2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/>
          <p:nvPr/>
        </p:nvSpPr>
        <p:spPr>
          <a:xfrm rot="10800000" flipH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sldNum" idx="12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19" name="Google Shape;119;p25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6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136" name="Google Shape;136;p27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2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body" idx="1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2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/>
          <p:nvPr/>
        </p:nvSpPr>
        <p:spPr>
          <a:xfrm rot="10800000" flipH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9"/>
          <p:cNvSpPr txBox="1">
            <a:spLocks noGrp="1"/>
          </p:cNvSpPr>
          <p:nvPr>
            <p:ph type="body" idx="1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9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body" idx="1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/>
          <p:nvPr/>
        </p:nvSpPr>
        <p:spPr>
          <a:xfrm rot="10800000" flipH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/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/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/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/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/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/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/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/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/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4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14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;p14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;p14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;p14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14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4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4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4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4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4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4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4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14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20" name="Google Shape;20;p14"/>
            <p:cNvSpPr/>
            <p:nvPr/>
          </p:nvSpPr>
          <p:spPr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14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14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14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14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14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14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14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14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14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4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14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32;p1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73355" lvl="0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1pPr>
            <a:lvl2pPr marL="173355" lvl="1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2pPr>
            <a:lvl3pPr marL="173355" lvl="2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3pPr>
            <a:lvl4pPr marL="173355" lvl="3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4pPr>
            <a:lvl5pPr marL="173355" lvl="4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5pPr>
            <a:lvl6pPr marL="173355" lvl="5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6pPr>
            <a:lvl7pPr marL="173355" lvl="6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7pPr>
            <a:lvl8pPr marL="173355" lvl="7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8pPr>
            <a:lvl9pPr marL="173355" lvl="8" indent="0" algn="r">
              <a:lnSpc>
                <a:spcPct val="93000"/>
              </a:lnSpc>
              <a:spcBef>
                <a:spcPts val="0"/>
              </a:spcBef>
              <a:buNone/>
              <a:defRPr sz="2000">
                <a:solidFill>
                  <a:srgbClr val="FEFFFF"/>
                </a:solidFill>
              </a:defRPr>
            </a:lvl9pPr>
          </a:lstStyle>
          <a:p>
            <a:pPr marL="173355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/>
          <p:nvPr/>
        </p:nvSpPr>
        <p:spPr>
          <a:xfrm>
            <a:off x="0" y="0"/>
            <a:ext cx="863600" cy="5690235"/>
          </a:xfrm>
          <a:custGeom>
            <a:avLst/>
            <a:gdLst/>
            <a:ahLst/>
            <a:cxnLst/>
            <a:rect l="l" t="t" r="r" b="b"/>
            <a:pathLst>
              <a:path w="863600" h="5690235" extrusionOk="0">
                <a:moveTo>
                  <a:pt x="0" y="5690188"/>
                </a:moveTo>
                <a:lnTo>
                  <a:pt x="0" y="604"/>
                </a:lnTo>
                <a:lnTo>
                  <a:pt x="61707" y="0"/>
                </a:lnTo>
                <a:lnTo>
                  <a:pt x="863598" y="0"/>
                </a:lnTo>
                <a:lnTo>
                  <a:pt x="863598" y="9071"/>
                </a:lnTo>
                <a:lnTo>
                  <a:pt x="0" y="5690188"/>
                </a:lnTo>
                <a:close/>
              </a:path>
            </a:pathLst>
          </a:custGeom>
          <a:solidFill>
            <a:srgbClr val="5ECAEF">
              <a:alpha val="69019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65" name="Google Shape;165;p1"/>
          <p:cNvGrpSpPr/>
          <p:nvPr/>
        </p:nvGrpSpPr>
        <p:grpSpPr>
          <a:xfrm>
            <a:off x="2818069" y="0"/>
            <a:ext cx="9374477" cy="6858212"/>
            <a:chOff x="2818069" y="0"/>
            <a:chExt cx="9374477" cy="6858212"/>
          </a:xfrm>
        </p:grpSpPr>
        <p:sp>
          <p:nvSpPr>
            <p:cNvPr id="166" name="Google Shape;166;p1"/>
            <p:cNvSpPr/>
            <p:nvPr/>
          </p:nvSpPr>
          <p:spPr>
            <a:xfrm>
              <a:off x="7425259" y="0"/>
              <a:ext cx="4763770" cy="6858000"/>
            </a:xfrm>
            <a:custGeom>
              <a:avLst/>
              <a:gdLst/>
              <a:ahLst/>
              <a:cxnLst/>
              <a:rect l="l" t="t" r="r" b="b"/>
              <a:pathLst>
                <a:path w="4763770" h="6858000" extrusionOk="0">
                  <a:moveTo>
                    <a:pt x="1945721" y="0"/>
                  </a:moveTo>
                  <a:lnTo>
                    <a:pt x="3164918" y="6857986"/>
                  </a:lnTo>
                </a:path>
                <a:path w="4763770" h="6858000" extrusionOk="0">
                  <a:moveTo>
                    <a:pt x="4763540" y="3681417"/>
                  </a:moveTo>
                  <a:lnTo>
                    <a:pt x="0" y="6857986"/>
                  </a:lnTo>
                </a:path>
              </a:pathLst>
            </a:custGeom>
            <a:noFill/>
            <a:ln w="9525" cap="flat" cmpd="sng">
              <a:solidFill>
                <a:srgbClr val="5ECA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9181456" y="0"/>
              <a:ext cx="3007360" cy="6858000"/>
            </a:xfrm>
            <a:custGeom>
              <a:avLst/>
              <a:gdLst/>
              <a:ahLst/>
              <a:cxnLst/>
              <a:rect l="l" t="t" r="r" b="b"/>
              <a:pathLst>
                <a:path w="3007359" h="6858000" extrusionOk="0">
                  <a:moveTo>
                    <a:pt x="3007343" y="6857999"/>
                  </a:moveTo>
                  <a:lnTo>
                    <a:pt x="0" y="6857999"/>
                  </a:lnTo>
                  <a:lnTo>
                    <a:pt x="2042998" y="0"/>
                  </a:lnTo>
                  <a:lnTo>
                    <a:pt x="3007343" y="0"/>
                  </a:lnTo>
                  <a:lnTo>
                    <a:pt x="3007343" y="6857999"/>
                  </a:lnTo>
                  <a:close/>
                </a:path>
              </a:pathLst>
            </a:custGeom>
            <a:solidFill>
              <a:srgbClr val="5ECAEF">
                <a:alpha val="34901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9604921" y="0"/>
              <a:ext cx="2587625" cy="6858000"/>
            </a:xfrm>
            <a:custGeom>
              <a:avLst/>
              <a:gdLst/>
              <a:ahLst/>
              <a:cxnLst/>
              <a:rect l="l" t="t" r="r" b="b"/>
              <a:pathLst>
                <a:path w="2587625" h="6858000" extrusionOk="0">
                  <a:moveTo>
                    <a:pt x="2587077" y="6857986"/>
                  </a:moveTo>
                  <a:lnTo>
                    <a:pt x="1207953" y="6857986"/>
                  </a:lnTo>
                  <a:lnTo>
                    <a:pt x="0" y="0"/>
                  </a:lnTo>
                  <a:lnTo>
                    <a:pt x="2587053" y="0"/>
                  </a:lnTo>
                  <a:lnTo>
                    <a:pt x="2587077" y="6857986"/>
                  </a:lnTo>
                  <a:close/>
                </a:path>
              </a:pathLst>
            </a:custGeom>
            <a:solidFill>
              <a:srgbClr val="5ECAEF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932306" y="3047993"/>
              <a:ext cx="3260090" cy="3810000"/>
            </a:xfrm>
            <a:custGeom>
              <a:avLst/>
              <a:gdLst/>
              <a:ahLst/>
              <a:cxnLst/>
              <a:rect l="l" t="t" r="r" b="b"/>
              <a:pathLst>
                <a:path w="3260090" h="3810000" extrusionOk="0">
                  <a:moveTo>
                    <a:pt x="3259668" y="3809992"/>
                  </a:moveTo>
                  <a:lnTo>
                    <a:pt x="0" y="3809992"/>
                  </a:lnTo>
                  <a:lnTo>
                    <a:pt x="3259668" y="0"/>
                  </a:lnTo>
                  <a:lnTo>
                    <a:pt x="3259668" y="3809992"/>
                  </a:lnTo>
                  <a:close/>
                </a:path>
              </a:pathLst>
            </a:custGeom>
            <a:solidFill>
              <a:srgbClr val="15AFE2">
                <a:alpha val="6509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9337527" y="0"/>
              <a:ext cx="2851785" cy="6858000"/>
            </a:xfrm>
            <a:custGeom>
              <a:avLst/>
              <a:gdLst/>
              <a:ahLst/>
              <a:cxnLst/>
              <a:rect l="l" t="t" r="r" b="b"/>
              <a:pathLst>
                <a:path w="2851784" h="6858000" extrusionOk="0">
                  <a:moveTo>
                    <a:pt x="2851272" y="6857999"/>
                  </a:moveTo>
                  <a:lnTo>
                    <a:pt x="2467698" y="6857999"/>
                  </a:lnTo>
                  <a:lnTo>
                    <a:pt x="0" y="0"/>
                  </a:lnTo>
                  <a:lnTo>
                    <a:pt x="2851272" y="0"/>
                  </a:lnTo>
                  <a:lnTo>
                    <a:pt x="2851272" y="6857999"/>
                  </a:lnTo>
                  <a:close/>
                </a:path>
              </a:pathLst>
            </a:custGeom>
            <a:solidFill>
              <a:srgbClr val="15AFE2">
                <a:alpha val="4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10898702" y="0"/>
              <a:ext cx="1290320" cy="6858000"/>
            </a:xfrm>
            <a:custGeom>
              <a:avLst/>
              <a:gdLst/>
              <a:ahLst/>
              <a:cxnLst/>
              <a:rect l="l" t="t" r="r" b="b"/>
              <a:pathLst>
                <a:path w="1290320" h="6858000" extrusionOk="0">
                  <a:moveTo>
                    <a:pt x="1290097" y="6857999"/>
                  </a:moveTo>
                  <a:lnTo>
                    <a:pt x="0" y="6857999"/>
                  </a:lnTo>
                  <a:lnTo>
                    <a:pt x="1018490" y="0"/>
                  </a:lnTo>
                  <a:lnTo>
                    <a:pt x="1290097" y="0"/>
                  </a:lnTo>
                  <a:lnTo>
                    <a:pt x="1290097" y="6857999"/>
                  </a:lnTo>
                  <a:close/>
                </a:path>
              </a:pathLst>
            </a:custGeom>
            <a:solidFill>
              <a:srgbClr val="2D83C3">
                <a:alpha val="69019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10940345" y="0"/>
              <a:ext cx="1249045" cy="6858000"/>
            </a:xfrm>
            <a:custGeom>
              <a:avLst/>
              <a:gdLst/>
              <a:ahLst/>
              <a:cxnLst/>
              <a:rect l="l" t="t" r="r" b="b"/>
              <a:pathLst>
                <a:path w="1249045" h="6858000" extrusionOk="0">
                  <a:moveTo>
                    <a:pt x="1248454" y="6857999"/>
                  </a:moveTo>
                  <a:lnTo>
                    <a:pt x="1108004" y="6857999"/>
                  </a:lnTo>
                  <a:lnTo>
                    <a:pt x="0" y="0"/>
                  </a:lnTo>
                  <a:lnTo>
                    <a:pt x="1248454" y="0"/>
                  </a:lnTo>
                  <a:lnTo>
                    <a:pt x="1248454" y="6857999"/>
                  </a:lnTo>
                  <a:close/>
                </a:path>
              </a:pathLst>
            </a:custGeom>
            <a:solidFill>
              <a:srgbClr val="216291">
                <a:alpha val="7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10371653" y="3589867"/>
              <a:ext cx="1817370" cy="3268345"/>
            </a:xfrm>
            <a:custGeom>
              <a:avLst/>
              <a:gdLst/>
              <a:ahLst/>
              <a:cxnLst/>
              <a:rect l="l" t="t" r="r" b="b"/>
              <a:pathLst>
                <a:path w="1817370" h="3268345" extrusionOk="0">
                  <a:moveTo>
                    <a:pt x="1817146" y="3268118"/>
                  </a:moveTo>
                  <a:lnTo>
                    <a:pt x="0" y="3268118"/>
                  </a:lnTo>
                  <a:lnTo>
                    <a:pt x="1817146" y="0"/>
                  </a:lnTo>
                  <a:lnTo>
                    <a:pt x="1817146" y="3268118"/>
                  </a:lnTo>
                  <a:close/>
                </a:path>
              </a:pathLst>
            </a:custGeom>
            <a:solidFill>
              <a:srgbClr val="15AFE2">
                <a:alpha val="65098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74" name="Google Shape;174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818069" y="4906765"/>
              <a:ext cx="5144914" cy="11894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1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85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7825" rIns="0" bIns="0" anchor="t" anchorCtr="0">
            <a:spAutoFit/>
          </a:bodyPr>
          <a:lstStyle/>
          <a:p>
            <a:pPr marL="1052830" lvl="0">
              <a:buSzPts val="4400"/>
            </a:pPr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FRAUD SHIELD</a:t>
            </a:r>
          </a:p>
        </p:txBody>
      </p:sp>
      <p:sp>
        <p:nvSpPr>
          <p:cNvPr id="176" name="Google Shape;176;p1"/>
          <p:cNvSpPr txBox="1"/>
          <p:nvPr/>
        </p:nvSpPr>
        <p:spPr>
          <a:xfrm>
            <a:off x="196734" y="2214916"/>
            <a:ext cx="10387583" cy="175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BCE V Semester</a:t>
            </a:r>
          </a:p>
          <a:p>
            <a:pPr lvl="0" algn="ctr"/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</a:p>
          <a:p>
            <a:pPr marL="12065" marR="5080" lvl="0" indent="0" algn="ctr" rtl="0">
              <a:lnSpc>
                <a:spcPct val="121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Bachelor in Computer Engineering </a:t>
            </a:r>
          </a:p>
          <a:p>
            <a:pPr marL="12065" marR="5080" lvl="0" algn="ctr">
              <a:lnSpc>
                <a:spcPct val="121700"/>
              </a:lnSpc>
            </a:pPr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Salim Shrestha (751600) | Surya Chand Yadav (752074) | Santosh Kumar Shah (751604)</a:t>
            </a:r>
          </a:p>
          <a:p>
            <a:pPr marL="12065" marR="5080" lvl="0" algn="ctr">
              <a:lnSpc>
                <a:spcPct val="121700"/>
              </a:lnSpc>
            </a:pPr>
            <a:r>
              <a:rPr lang="en-US" sz="2000" dirty="0">
                <a:solidFill>
                  <a:srgbClr val="7E7E7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Supervisor: Mr. Sagar Dhakal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>
            <a:spLocks noGrp="1"/>
          </p:cNvSpPr>
          <p:nvPr>
            <p:ph type="title"/>
          </p:nvPr>
        </p:nvSpPr>
        <p:spPr>
          <a:xfrm>
            <a:off x="2592925" y="624110"/>
            <a:ext cx="8911687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Table of Content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2" name="Google Shape;182;p2"/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3" name="Google Shape;183;p2"/>
          <p:cNvSpPr txBox="1"/>
          <p:nvPr/>
        </p:nvSpPr>
        <p:spPr>
          <a:xfrm>
            <a:off x="1961148" y="1190932"/>
            <a:ext cx="5087620" cy="527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Introduction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Problem Statement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Objectives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Key Features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System Architecture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Methodology — ML Pipeline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Tools &amp; Technologies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Security Measures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Data Flow &amp; Design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Testing &amp; Validation</a:t>
            </a:r>
          </a:p>
          <a:p>
            <a:pPr marL="463550" lvl="0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Limitations &amp; Future Work</a:t>
            </a:r>
          </a:p>
          <a:p>
            <a:pPr marL="463550" lvl="1" indent="-450850">
              <a:spcBef>
                <a:spcPts val="509"/>
              </a:spcBef>
              <a:buClr>
                <a:srgbClr val="5ECAEF"/>
              </a:buClr>
              <a:buSzPts val="1964"/>
              <a:buFont typeface="Times New Roman"/>
              <a:buChar char="►"/>
            </a:pPr>
            <a:r>
              <a:rPr lang="en-GB" sz="2400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>
            <a:spLocks noGrp="1"/>
          </p:cNvSpPr>
          <p:nvPr>
            <p:ph type="title"/>
          </p:nvPr>
        </p:nvSpPr>
        <p:spPr>
          <a:xfrm>
            <a:off x="2509525" y="51988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9" name="Google Shape;189;p3"/>
          <p:cNvSpPr txBox="1">
            <a:spLocks noGrp="1"/>
          </p:cNvSpPr>
          <p:nvPr>
            <p:ph type="sldNum" idx="12"/>
          </p:nvPr>
        </p:nvSpPr>
        <p:spPr>
          <a:xfrm>
            <a:off x="380825" y="803385"/>
            <a:ext cx="779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1934541" y="1191827"/>
            <a:ext cx="9766800" cy="499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Credit card fraud costs issuers and customers billions annually, and fraud patterns shift faster than manual review can track.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Fraud Shield is a web-based monitoring system that scores each transaction for fraud risk in real time.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Combines a trained machine-learning model with rule-based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behavior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profiling to flag suspicious activity as it happens — not after the fact.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Built with Flask, scikit-learn, and SQLite; supports single-transaction scoring and CSV batch review.</a:t>
            </a:r>
          </a:p>
          <a:p>
            <a:pPr marL="474344" marR="5080" lvl="0" indent="-462279">
              <a:lnSpc>
                <a:spcPct val="150000"/>
              </a:lnSpc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b="1" dirty="0">
                <a:latin typeface="Calibri (body)"/>
              </a:rPr>
              <a:t>Problem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/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5424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Reactive detection: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Most small merchants and student-scale systems rely on after-the-fact statement review — fraud is caught days or weeks later.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Static rule engines: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Fixed-threshold rules either miss evolving fraud patterns or generate too many false alarms to be usable.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No </a:t>
            </a: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 context: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Amount-only checks ignore who the customer usually is — new device, new country, or odd hours often matter more than amount alone.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97" name="Google Shape;197;p4"/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36481CB-0D06-6739-AB3A-1473DAE8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4D4BC0AE-70D3-B45D-8FA2-2D1C7C090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812D5570-6212-BB7E-5416-B5884C6317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91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risk scoring: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Classify each transaction as Normal or Fraud using a trained model, in under a second.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Behaviour-aware detection: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Give a reviewer a dashboard, alert queue, and verification actions (Approve / Block / False Positive), not just a raw number.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Secure by default: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Enforce authentication, rate limiting, and safe secret handling from the ground up, not bolted on later.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EE6AB0DD-CF81-30A2-A080-9D96F0BFD8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8969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896132A4-ABC8-1060-AC19-A5D9688F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A73D80F4-0CDB-068C-1D60-B1BE24135E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Features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571D5805-671B-B69C-DD60-AC55048B9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5806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ML-based scoring :</a:t>
            </a:r>
            <a:endParaRPr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RandomForest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model over 15 engineered features per transaction.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 profiling 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Per-customer history: devices, countries, spend average, velocity.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CSV batch upload 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Score up to 500 transactions at once, with per-row error reporting.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alerts:</a:t>
            </a:r>
          </a:p>
          <a:p>
            <a:pPr marL="926464" marR="85090" lvl="2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Auto-generated for high-risk transactions, with acknowledge workflow.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2A44BE63-B787-A8ED-5FDD-85B58480DF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345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7A1C877-6E7B-7952-FE60-6A426A63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9D86C5D2-4F6D-61D2-9CC4-E412CCF43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US" b="1" dirty="0">
                <a:latin typeface="Calibri (body)"/>
              </a:rPr>
              <a:t>Key Features</a:t>
            </a:r>
            <a:endParaRPr b="1" dirty="0">
              <a:latin typeface="Calibri (body)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F2E2965C-2D8F-EB7D-512F-1D66D4EBD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251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Live dashboard:</a:t>
            </a:r>
          </a:p>
          <a:p>
            <a:pPr marL="469264" marR="85090" lvl="1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	 Totals, open alerts, average risk, and per-customer profiles.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Secure access:</a:t>
            </a:r>
          </a:p>
          <a:p>
            <a:pPr marL="469264" marR="85090" lvl="1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	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Bcrypt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auth, rate-limited login, enforced secret-key config.</a:t>
            </a:r>
          </a:p>
          <a:p>
            <a:pPr marL="469264" marR="85090" lvl="1" indent="0">
              <a:lnSpc>
                <a:spcPct val="150000"/>
              </a:lnSpc>
              <a:spcBef>
                <a:spcPts val="125"/>
              </a:spcBef>
              <a:buClr>
                <a:srgbClr val="5ECAEF"/>
              </a:buClr>
              <a:buSzPts val="1900"/>
              <a:buNone/>
            </a:pPr>
            <a:endParaRPr lang="en-GB" sz="22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6455B8DC-DE66-B8AB-54F8-986B7EC240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524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1CEC933-6755-97F6-CDAC-A8AB9340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1EF10A96-CF9C-BF9F-B8E8-1AF6B971DF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4458E99D-543E-8DE5-2D62-652ADA024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77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UI Presentation: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Server-rendered HTML + JS dashboard (login, prediction form, CSV upload, alerts)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Routes (Blueprints):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auth · dashboard · prediction · alerts — Flask blueprints, each behind session auth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Services: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scoring_service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(ML inference) ·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behavior_service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(profiling) · </a:t>
            </a:r>
            <a:r>
              <a:rPr lang="en-US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alert_service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(triage)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Persistence: </a:t>
            </a:r>
          </a:p>
          <a:p>
            <a:pPr marL="927100" lvl="2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SQLite via a thin storage layer — transactions, alerts,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profiles, users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023332B8-8802-2173-2C69-922356FC83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 (body)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9091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8212AE7-4F17-1A1B-6B5F-2A44A885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BFAD3D68-50C2-549B-212D-851D032988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Methodology — ML Pipeline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DD215327-9093-CDA5-96F5-FE37B5309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832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Ingest: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Transaction submitted via form or CSV row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Validate: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Required fields, date/time, amount checked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Profile: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Customer's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history looked up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Engineer: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15 features built: time, amount, category, velocity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Score: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Scaled features passed to trained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RandomForest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Decide: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Risk score (0–100) + alert if threshold crossed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9EDEF728-B3AF-6312-D112-B156B9236B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1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8A2778F-9F08-F944-B476-9AC880A2C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1D376165-4EF9-22D8-94D4-91B6A53249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Tools &amp; Technologies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081B66DC-E49E-F3DE-42E7-2E77B9581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832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Backend: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Python, Flask, Flask-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, Flask-Limiter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Machine Learning: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scikit-learn (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RandomForest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), pandas, NumPy,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joblib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Data &amp; Storage: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SQLite, pandas (CSV ingestion)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Frontend: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Server-rendered HTML, vanilla JavaScript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Tooling: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Structured JSON logging,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pytest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-style smoke tests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Deployment: 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Render (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render.yaml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), environment-based secrets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6A528C9A-F0C0-2ACC-69F6-9C1D720B76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7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1D03FC8-0E4F-5D53-DE3E-D7298DB6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5433162F-8E9F-2AEF-4C79-0F4AC5258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Security Measures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969F2FAE-9EF3-BBFF-1326-498C0D242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53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Passwords hashed with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 — never stored or compared in plain text.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Login rate-limited (5 attempts/minute) to blunt credential-stuffing and brute force.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Generic “invalid username or password” response — prevents user enumeration.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App refuses to start if SECRET_KEY is unset or left at its insecure default.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Every state-changing route sits behind a session-authentication decorator.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Upload and prediction endpoints are rate-limited and row/size-capped.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All dynamic content is HTML-escaped client-side before rendering — no stored-XSS surface.</a:t>
            </a:r>
            <a:endParaRPr lang="en-GB" sz="2200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0F855390-DC92-1230-6D18-68C6763F5F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856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DFDE89E-B1EE-FD3B-C3D1-EC1EEA7B6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7905C72B-CB2F-7AD6-76DB-FA219AC35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Data Flow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BC20634C-8B03-7D45-4206-75B49AE724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132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Every transaction — whether typed into the form or uploaded via CSV — travels through the same authenticated pipeline before it reaches storage.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C39171A3-5C20-051D-36AD-EABD42A085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331D4AD1-A32B-1AFB-F31B-AC61DBEC6064}"/>
              </a:ext>
            </a:extLst>
          </p:cNvPr>
          <p:cNvSpPr/>
          <p:nvPr/>
        </p:nvSpPr>
        <p:spPr>
          <a:xfrm>
            <a:off x="798196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132242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85E7FDA-44F0-DBAD-17C5-E0483255900F}"/>
              </a:ext>
            </a:extLst>
          </p:cNvPr>
          <p:cNvSpPr/>
          <p:nvPr/>
        </p:nvSpPr>
        <p:spPr>
          <a:xfrm>
            <a:off x="1003936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Client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48B509E-FE98-C8FA-8CEB-89E394AE8DB2}"/>
              </a:ext>
            </a:extLst>
          </p:cNvPr>
          <p:cNvSpPr/>
          <p:nvPr/>
        </p:nvSpPr>
        <p:spPr>
          <a:xfrm>
            <a:off x="2509648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AEBFB87-8E48-8F65-11F7-0C8032211A88}"/>
              </a:ext>
            </a:extLst>
          </p:cNvPr>
          <p:cNvSpPr/>
          <p:nvPr/>
        </p:nvSpPr>
        <p:spPr>
          <a:xfrm>
            <a:off x="2829688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2C8A1FA-C3BA-0D12-D3C9-531D4A29A7E9}"/>
              </a:ext>
            </a:extLst>
          </p:cNvPr>
          <p:cNvSpPr/>
          <p:nvPr/>
        </p:nvSpPr>
        <p:spPr>
          <a:xfrm>
            <a:off x="2875408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Auth &amp;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Rate Limit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0CF1EBB-B106-420D-29EC-7EA657A66628}"/>
              </a:ext>
            </a:extLst>
          </p:cNvPr>
          <p:cNvSpPr/>
          <p:nvPr/>
        </p:nvSpPr>
        <p:spPr>
          <a:xfrm>
            <a:off x="4381120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09D29F5-AF89-B964-9718-17A105120FEB}"/>
              </a:ext>
            </a:extLst>
          </p:cNvPr>
          <p:cNvSpPr/>
          <p:nvPr/>
        </p:nvSpPr>
        <p:spPr>
          <a:xfrm>
            <a:off x="4701160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CE8E5DDD-41F5-0E86-5542-7EA545FA6C76}"/>
              </a:ext>
            </a:extLst>
          </p:cNvPr>
          <p:cNvSpPr/>
          <p:nvPr/>
        </p:nvSpPr>
        <p:spPr>
          <a:xfrm>
            <a:off x="4746880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Feature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Engineering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37BB8F23-FB00-F4B9-29EF-BB99CB1BCC9D}"/>
              </a:ext>
            </a:extLst>
          </p:cNvPr>
          <p:cNvSpPr/>
          <p:nvPr/>
        </p:nvSpPr>
        <p:spPr>
          <a:xfrm>
            <a:off x="6252592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4EA48F6B-FAAA-236B-8297-7C551E11348E}"/>
              </a:ext>
            </a:extLst>
          </p:cNvPr>
          <p:cNvSpPr/>
          <p:nvPr/>
        </p:nvSpPr>
        <p:spPr>
          <a:xfrm>
            <a:off x="6572632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132242"/>
          </a:solidFill>
          <a:ln/>
        </p:spPr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38CD262-EDFC-AEDC-2A34-AE2420550095}"/>
              </a:ext>
            </a:extLst>
          </p:cNvPr>
          <p:cNvSpPr/>
          <p:nvPr/>
        </p:nvSpPr>
        <p:spPr>
          <a:xfrm>
            <a:off x="6618352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ML Model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+ Scaler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EF3FA5FE-7272-303C-0424-5AA0921040A5}"/>
              </a:ext>
            </a:extLst>
          </p:cNvPr>
          <p:cNvSpPr/>
          <p:nvPr/>
        </p:nvSpPr>
        <p:spPr>
          <a:xfrm>
            <a:off x="8124064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Shape 14">
            <a:extLst>
              <a:ext uri="{FF2B5EF4-FFF2-40B4-BE49-F238E27FC236}">
                <a16:creationId xmlns:a16="http://schemas.microsoft.com/office/drawing/2014/main" id="{24189436-DFE0-79D0-6B7D-D3934DE24940}"/>
              </a:ext>
            </a:extLst>
          </p:cNvPr>
          <p:cNvSpPr/>
          <p:nvPr/>
        </p:nvSpPr>
        <p:spPr>
          <a:xfrm>
            <a:off x="8444104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D7263D"/>
          </a:solidFill>
          <a:ln/>
        </p:spPr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2F9FD8BE-3A80-1C5C-0347-05845561D018}"/>
              </a:ext>
            </a:extLst>
          </p:cNvPr>
          <p:cNvSpPr/>
          <p:nvPr/>
        </p:nvSpPr>
        <p:spPr>
          <a:xfrm>
            <a:off x="8489824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Risk Score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+ Alert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F72F19AC-9461-7AAF-620B-20804D0624F0}"/>
              </a:ext>
            </a:extLst>
          </p:cNvPr>
          <p:cNvSpPr/>
          <p:nvPr/>
        </p:nvSpPr>
        <p:spPr>
          <a:xfrm>
            <a:off x="9995536" y="401893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47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B684F826-A055-FC2C-3BBC-000958811B7B}"/>
              </a:ext>
            </a:extLst>
          </p:cNvPr>
          <p:cNvSpPr/>
          <p:nvPr/>
        </p:nvSpPr>
        <p:spPr>
          <a:xfrm>
            <a:off x="10315576" y="3561735"/>
            <a:ext cx="1551432" cy="1371600"/>
          </a:xfrm>
          <a:prstGeom prst="roundRect">
            <a:avLst>
              <a:gd name="adj" fmla="val 6667"/>
            </a:avLst>
          </a:prstGeom>
          <a:solidFill>
            <a:srgbClr val="3E5C76"/>
          </a:solidFill>
          <a:ln/>
        </p:spPr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1CDB3ED1-35C7-EA3B-7CBA-4D5C9BFF32A9}"/>
              </a:ext>
            </a:extLst>
          </p:cNvPr>
          <p:cNvSpPr/>
          <p:nvPr/>
        </p:nvSpPr>
        <p:spPr>
          <a:xfrm>
            <a:off x="10361296" y="3561735"/>
            <a:ext cx="145999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SQLite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Store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356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58ABC2D-B56C-58E3-F9D3-D434D6FE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554D3930-F438-8B19-D120-F8CEE6B83F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Testing &amp; Validation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625A43ED-FDE6-B3B5-BD97-26818982FA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24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Health check, login (valid + invalid credentials), logout-then-blocked-access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Single prediction for known normal / fraud sample payloads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Invalid input rejected (malformed date returns HTTP 400)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CSV batch upload, sample CSV download, and report export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Dashboard totals reflect what was just submitted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CCAF5EC7-894D-7A8E-BC3F-915E484479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000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E66CA1EA-CCA5-EE3C-4463-60FF0D6F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17D96570-CC67-61BE-EFB7-BA45382E8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Limitations &amp; Future Work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B7A63CEB-F134-AD94-7015-6470DE275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370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Current limitations: 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In-memory state assumes a single application process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Two verification endpoints need CSRF hardening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Trained on a single dataset snapshot — no live retraining loop yet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Planned enhancements: 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Multi-worker safe persistence (shared DB reads on every request)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CSRF tokens on all state-changing endpoints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Scheduled model retraining as new </a:t>
            </a:r>
            <a:r>
              <a:rPr lang="en-GB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labeled</a:t>
            </a: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 data arrives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Role-based access for multiple reviewers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828207AF-3ADC-A686-3CAD-463B796A8A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25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B52EA5F-2123-F2C1-0C3F-3D436737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D6205FF1-2830-6123-EFEA-95464FF4C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CF5538D4-E6B8-B392-D5D2-E34E2FFEE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27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Fraud Shield delivers real-time, ML-backed fraud scoring layered with </a:t>
            </a:r>
            <a:r>
              <a:rPr lang="en-GB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behavior</a:t>
            </a: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-aware heuristics — not amount thresholds alone.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system covers the full loop: score → alert → operator review → verification, backed by a properly leakage-free training pipeline.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Authentication, rate limiting, and secret management were treated as first-class requirements, not afterthoughts.</a:t>
            </a: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The project demonstrates practical skills across ML engineering, backend API design, and applied security — with a clear, prioritized roadmap for what's next.</a:t>
            </a: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34C6564D-8308-867A-2516-A6E2B31775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88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418AF6F-3422-DD3B-B1C7-8351466AB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>
            <a:extLst>
              <a:ext uri="{FF2B5EF4-FFF2-40B4-BE49-F238E27FC236}">
                <a16:creationId xmlns:a16="http://schemas.microsoft.com/office/drawing/2014/main" id="{85F3D51E-E16F-7552-4C1D-D53E7C2FD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3675" y="551335"/>
            <a:ext cx="89118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>
              <a:buSzPts val="3600"/>
            </a:pP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6" name="Google Shape;196;p4">
            <a:extLst>
              <a:ext uri="{FF2B5EF4-FFF2-40B4-BE49-F238E27FC236}">
                <a16:creationId xmlns:a16="http://schemas.microsoft.com/office/drawing/2014/main" id="{A7D8917F-C84F-B7B0-9417-3D0030AA71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28432" y="1118335"/>
            <a:ext cx="8487144" cy="409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3350" rIns="0" bIns="0" anchor="t" anchorCtr="0">
            <a:spAutoFit/>
          </a:bodyPr>
          <a:lstStyle/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Questions &amp; Feedback</a:t>
            </a: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endParaRPr lang="en-GB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Salim Shrestha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Santosh Kumar Shah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Surya Chand Yadav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74344" lvl="0" indent="-461644">
              <a:spcBef>
                <a:spcPts val="0"/>
              </a:spcBef>
              <a:buClr>
                <a:srgbClr val="5ECAEF"/>
              </a:buClr>
              <a:buSzPts val="1900"/>
              <a:buFont typeface="Times New Roman"/>
              <a:buChar char="►"/>
            </a:pPr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Supervisor:</a:t>
            </a:r>
          </a:p>
          <a:p>
            <a:pPr marL="812800" lvl="1">
              <a:spcBef>
                <a:spcPts val="0"/>
              </a:spcBef>
              <a:buClr>
                <a:srgbClr val="5ECAEF"/>
              </a:buClr>
              <a:buSzPts val="1900"/>
              <a:buFont typeface="Wingdings" panose="05000000000000000000" pitchFamily="2" charset="2"/>
              <a:buChar char="Ø"/>
            </a:pPr>
            <a:r>
              <a:rPr lang="en-GB" sz="2200" dirty="0">
                <a:latin typeface="Cambria" panose="02040503050406030204" pitchFamily="18" charset="0"/>
                <a:ea typeface="Cambria" panose="02040503050406030204" pitchFamily="18" charset="0"/>
              </a:rPr>
              <a:t>	Mr. Sagar Dhakal</a:t>
            </a:r>
          </a:p>
          <a:p>
            <a:pPr marL="469900" lvl="1" indent="0">
              <a:spcBef>
                <a:spcPts val="0"/>
              </a:spcBef>
              <a:buClr>
                <a:srgbClr val="5ECAEF"/>
              </a:buClr>
              <a:buSzPts val="1900"/>
              <a:buNone/>
            </a:pPr>
            <a:endParaRPr lang="en-GB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7" name="Google Shape;197;p4">
            <a:extLst>
              <a:ext uri="{FF2B5EF4-FFF2-40B4-BE49-F238E27FC236}">
                <a16:creationId xmlns:a16="http://schemas.microsoft.com/office/drawing/2014/main" id="{EEEA1765-FB0E-28E6-6E74-2B61A53930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31812" y="827228"/>
            <a:ext cx="779767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173355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pPr marL="173355" lvl="0" indent="0" algn="r" rtl="0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FDA9F35-DA4F-0FCB-C950-53299379034D}"/>
              </a:ext>
            </a:extLst>
          </p:cNvPr>
          <p:cNvSpPr/>
          <p:nvPr/>
        </p:nvSpPr>
        <p:spPr>
          <a:xfrm>
            <a:off x="2283675" y="1873045"/>
            <a:ext cx="2011680" cy="0"/>
          </a:xfrm>
          <a:prstGeom prst="line">
            <a:avLst/>
          </a:prstGeom>
          <a:noFill/>
          <a:ln w="31750">
            <a:solidFill>
              <a:srgbClr val="D726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788667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990</Words>
  <Application>Microsoft Office PowerPoint</Application>
  <PresentationFormat>Widescreen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Century Gothic</vt:lpstr>
      <vt:lpstr>Cambria</vt:lpstr>
      <vt:lpstr>Wingdings</vt:lpstr>
      <vt:lpstr>Calibri (body)</vt:lpstr>
      <vt:lpstr>Arial</vt:lpstr>
      <vt:lpstr>Times New Roman</vt:lpstr>
      <vt:lpstr>Noto Sans Symbols</vt:lpstr>
      <vt:lpstr>Wisp</vt:lpstr>
      <vt:lpstr>FRAUD SHIELD</vt:lpstr>
      <vt:lpstr>Table of Content</vt:lpstr>
      <vt:lpstr>Introduction</vt:lpstr>
      <vt:lpstr>Problem Statement</vt:lpstr>
      <vt:lpstr>Objective</vt:lpstr>
      <vt:lpstr>Key Features</vt:lpstr>
      <vt:lpstr>Key Features</vt:lpstr>
      <vt:lpstr>System Architecture</vt:lpstr>
      <vt:lpstr>Methodology — ML Pipeline</vt:lpstr>
      <vt:lpstr>Tools &amp; Technologies</vt:lpstr>
      <vt:lpstr>Security Measures</vt:lpstr>
      <vt:lpstr>Data Flow</vt:lpstr>
      <vt:lpstr>Testing &amp; Validation</vt:lpstr>
      <vt:lpstr>Limitations &amp; Future Work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Encryptor In C++</dc:title>
  <dc:creator>DELL</dc:creator>
  <cp:lastModifiedBy>Salim Shrestha</cp:lastModifiedBy>
  <cp:revision>65</cp:revision>
  <dcterms:created xsi:type="dcterms:W3CDTF">2025-02-21T10:01:13Z</dcterms:created>
  <dcterms:modified xsi:type="dcterms:W3CDTF">2026-07-23T17:34:32Z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2025-02-21T00:00:00Z</vt:filetime>
  </property>
  <property fmtid="{D5CDD505-2E9C-101B-9397-08002B2CF9AE}" pid="3" name="Creator">
    <vt:lpwstr>PDFium</vt:lpwstr>
  </property>
  <property fmtid="{D5CDD505-2E9C-101B-9397-08002B2CF9AE}" pid="4" name="LastSaved">
    <vt:filetime>2025-02-21T00:00:00Z</vt:filetime>
  </property>
  <property fmtid="{D5CDD505-2E9C-101B-9397-08002B2CF9AE}" pid="5" name="Producer">
    <vt:lpwstr>3-Heights(TM) PDF Security Shell 4.8.25.2 (http://www.pdf-tools.com)</vt:lpwstr>
  </property>
</Properties>
</file>