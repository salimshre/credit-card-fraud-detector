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13224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4023360" cy="4023360"/>
          </a:xfrm>
          <a:prstGeom prst="ellipse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5" name="Image 0" descr="assets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10213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03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SHIELD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Credit Card Fraud Detection using Machine Learning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794760"/>
            <a:ext cx="2011680" cy="0"/>
          </a:xfrm>
          <a:prstGeom prst="line">
            <a:avLst/>
          </a:prstGeom>
          <a:noFill/>
          <a:ln w="31750">
            <a:solidFill>
              <a:srgbClr val="D72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Pre-Defense Presentation  •  BCE 5th Semester, Computer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572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 Shrestha   •   Surya Chand Yadav   •   Santosh Kumar Shah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Sagar Dhakal</a:t>
            </a:r>
            <a:endParaRPr lang="en-US" sz="1400" dirty="0"/>
          </a:p>
        </p:txBody>
      </p:sp>
      <p:pic>
        <p:nvPicPr>
          <p:cNvPr id="11" name="Image 1" descr="assets/kcc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806440"/>
            <a:ext cx="23774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 to Purbanchal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13224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 Statement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Objectives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Key Features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System Architecture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Methodology — ML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Tools &amp; Technologies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Security Measures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Data Flow &amp; Design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Testing &amp; Validation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Limitations &amp; Future Work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Conclusion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costs issuers and customers billions annually, and fraud patterns shift faster than manual review can track.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is a web-based monitoring system that scores each transaction for fraud risk in real time.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trained machine-learning model with rule-based behavior profiling to flag suspicious activity as it happens — not after the fact.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Flask, scikit-learn, and SQLite; supports single-transaction scoring and CSV batch review.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0"/>
            <a:ext cx="4206240" cy="4297680"/>
          </a:xfrm>
          <a:prstGeom prst="roundRect">
            <a:avLst>
              <a:gd name="adj" fmla="val 2609"/>
            </a:avLst>
          </a:prstGeom>
          <a:solidFill>
            <a:srgbClr val="F5F7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148840"/>
            <a:ext cx="777240" cy="777240"/>
          </a:xfrm>
          <a:prstGeom prst="ellipse">
            <a:avLst/>
          </a:prstGeom>
          <a:solidFill>
            <a:srgbClr val="132242"/>
          </a:solidFill>
          <a:ln/>
        </p:spPr>
      </p:sp>
      <p:pic>
        <p:nvPicPr>
          <p:cNvPr id="7" name="Image 0" descr="assets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441" y="224988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35204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doesn't scale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miss new fraud patterns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 = larger losses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assets/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22320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detection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merchants and student-scale systems rely on after-the-fact statement review — fraud is caught days or weeks later.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1" descr="assets/icon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650" y="223205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17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rule engines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5661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Fixed-threshold rules either miss evolving fraud patterns or generate too many false alarms to be usable.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14884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6" name="Image 2" descr="assets/icon_user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970" y="223205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017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behavior context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35661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Amount-only checks ignore who the customer usually is — new device, new country, or odd hours often matter more than amount alone.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84832"/>
            <a:ext cx="548640" cy="548640"/>
          </a:xfrm>
          <a:prstGeom prst="ellipse">
            <a:avLst/>
          </a:prstGeom>
          <a:solidFill>
            <a:srgbClr val="132242"/>
          </a:solidFill>
          <a:ln/>
        </p:spPr>
      </p:sp>
      <p:pic>
        <p:nvPicPr>
          <p:cNvPr id="6" name="Image 0" descr="assets/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15615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29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risk scoring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42316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transaction as Normal or Fraud using a trained model, in under a second.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2084832"/>
            <a:ext cx="548640" cy="548640"/>
          </a:xfrm>
          <a:prstGeom prst="ellipse">
            <a:avLst/>
          </a:prstGeom>
          <a:solidFill>
            <a:srgbClr val="132242"/>
          </a:solidFill>
          <a:ln/>
        </p:spPr>
      </p:sp>
      <p:pic>
        <p:nvPicPr>
          <p:cNvPr id="11" name="Image 1" descr="assets/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75" y="2156155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29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Behavior-aware detection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23760" y="242316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customer-history signals — new device, new country, spending spike, rapid succession — on top of the ML score.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33672"/>
            <a:ext cx="548640" cy="548640"/>
          </a:xfrm>
          <a:prstGeom prst="ellipse">
            <a:avLst/>
          </a:prstGeom>
          <a:solidFill>
            <a:srgbClr val="132242"/>
          </a:solidFill>
          <a:ln/>
        </p:spPr>
      </p:sp>
      <p:pic>
        <p:nvPicPr>
          <p:cNvPr id="16" name="Image 2" descr="assets/icon_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4304995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78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workflow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457200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reviewer a dashboard, alert queue, and verification actions (Approve / Block / False Positive), not just a raw number.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4233672"/>
            <a:ext cx="548640" cy="548640"/>
          </a:xfrm>
          <a:prstGeom prst="ellipse">
            <a:avLst/>
          </a:prstGeom>
          <a:solidFill>
            <a:srgbClr val="132242"/>
          </a:solidFill>
          <a:ln/>
        </p:spPr>
      </p:sp>
      <p:pic>
        <p:nvPicPr>
          <p:cNvPr id="21" name="Image 3" descr="assets/icon_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275" y="4304995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78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default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23760" y="457200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authentication, rate limiting, and safe secret handling from the ground up, not bolted on later.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" cy="5943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5" name="Image 0" descr="assets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347" y="190606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42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scoring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907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model over 15 engineered features per transaction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594360" cy="5943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9" name="Image 1" descr="assets/icon_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667" y="1906067"/>
            <a:ext cx="439826" cy="4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2542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profiling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43400" y="2907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history: devices, countries, spend average, velocity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1828800"/>
            <a:ext cx="594360" cy="5943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3" name="Image 2" descr="assets/icon_cs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987" y="1906067"/>
            <a:ext cx="439826" cy="439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0" y="2542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batch upload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46720" y="2907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up to 500 transactions at once, with per-row error reporting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594360" cy="5943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7" name="Image 3" descr="assets/icon_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47" y="4192067"/>
            <a:ext cx="439826" cy="4398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4828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5193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for high-risk transactions, with acknowledge workflow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4114800"/>
            <a:ext cx="594360" cy="5943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21" name="Image 4" descr="assets/icon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667" y="4192067"/>
            <a:ext cx="439826" cy="4398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43400" y="4828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43400" y="5193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open alerts, average risk, and per-customer profiles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4114800"/>
            <a:ext cx="594360" cy="5943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25" name="Image 5" descr="assets/icon_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3987" y="4192067"/>
            <a:ext cx="439826" cy="43982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46720" y="4828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046720" y="51937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auth, rate-limited login, enforced secret-key config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1322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2743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783080"/>
            <a:ext cx="78638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HTML + JS dashboard (login, prediction form, CSV upload, alerts)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11680" y="2633472"/>
            <a:ext cx="0" cy="201168"/>
          </a:xfrm>
          <a:prstGeom prst="line">
            <a:avLst/>
          </a:prstGeom>
          <a:noFill/>
          <a:ln w="19050">
            <a:solidFill>
              <a:srgbClr val="D7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34640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3E5C7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2743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(Blueprints)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834640"/>
            <a:ext cx="78638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dashboard · prediction · alerts — Flask blueprints, each behind session auth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11680" y="3685032"/>
            <a:ext cx="0" cy="201168"/>
          </a:xfrm>
          <a:prstGeom prst="line">
            <a:avLst/>
          </a:prstGeom>
          <a:noFill/>
          <a:ln w="19050">
            <a:solidFill>
              <a:srgbClr val="D7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886200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3E5C7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2743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78638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scoring_service (ML inference) · behavior_service (profiling) · alert_service (triage)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011680" y="4736592"/>
            <a:ext cx="0" cy="201168"/>
          </a:xfrm>
          <a:prstGeom prst="line">
            <a:avLst/>
          </a:prstGeom>
          <a:noFill/>
          <a:ln w="19050">
            <a:solidFill>
              <a:srgbClr val="D7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937760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3E5C7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37760"/>
            <a:ext cx="2743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4937760"/>
            <a:ext cx="78638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a thin storage layer — transactions, alerts, behavior profiles, users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Transaction Gets Scored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50492" cy="1920240"/>
          </a:xfrm>
          <a:prstGeom prst="roundRect">
            <a:avLst>
              <a:gd name="adj" fmla="val 4432"/>
            </a:avLst>
          </a:prstGeom>
          <a:solidFill>
            <a:srgbClr val="13224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450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1431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1431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submitted via form or CSV row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90572" y="31089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91740" y="2377440"/>
            <a:ext cx="1650492" cy="1920240"/>
          </a:xfrm>
          <a:prstGeom prst="roundRect">
            <a:avLst>
              <a:gd name="adj" fmla="val 4432"/>
            </a:avLst>
          </a:prstGeom>
          <a:solidFill>
            <a:srgbClr val="3E5C76"/>
          </a:solidFill>
          <a:ln/>
        </p:spPr>
      </p:sp>
      <p:sp>
        <p:nvSpPr>
          <p:cNvPr id="10" name="Text 8"/>
          <p:cNvSpPr/>
          <p:nvPr/>
        </p:nvSpPr>
        <p:spPr>
          <a:xfrm>
            <a:off x="2601468" y="2450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1468" y="2788920"/>
            <a:ext cx="1431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1468" y="3154680"/>
            <a:ext cx="1431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date/time, amount checked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42232" y="31089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43400" y="2377440"/>
            <a:ext cx="1650492" cy="1920240"/>
          </a:xfrm>
          <a:prstGeom prst="roundRect">
            <a:avLst>
              <a:gd name="adj" fmla="val 4432"/>
            </a:avLst>
          </a:prstGeom>
          <a:solidFill>
            <a:srgbClr val="13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4453128" y="2450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53128" y="2788920"/>
            <a:ext cx="1431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53128" y="3154680"/>
            <a:ext cx="1431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behavior history looked up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93892" y="31089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5060" y="2377440"/>
            <a:ext cx="1650492" cy="1920240"/>
          </a:xfrm>
          <a:prstGeom prst="roundRect">
            <a:avLst>
              <a:gd name="adj" fmla="val 4432"/>
            </a:avLst>
          </a:prstGeom>
          <a:solidFill>
            <a:srgbClr val="3E5C7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4788" y="2450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4788" y="2788920"/>
            <a:ext cx="1431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4788" y="3154680"/>
            <a:ext cx="1431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 built: time, amount, category, velocity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45552" y="31089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46720" y="2377440"/>
            <a:ext cx="1650492" cy="1920240"/>
          </a:xfrm>
          <a:prstGeom prst="roundRect">
            <a:avLst>
              <a:gd name="adj" fmla="val 4432"/>
            </a:avLst>
          </a:prstGeom>
          <a:solidFill>
            <a:srgbClr val="13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8156448" y="2450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56448" y="2788920"/>
            <a:ext cx="1431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56448" y="3154680"/>
            <a:ext cx="1431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 passed to trained RandomForest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97212" y="31089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898380" y="2377440"/>
            <a:ext cx="1650492" cy="1920240"/>
          </a:xfrm>
          <a:prstGeom prst="roundRect">
            <a:avLst>
              <a:gd name="adj" fmla="val 4432"/>
            </a:avLst>
          </a:prstGeom>
          <a:solidFill>
            <a:srgbClr val="3E5C7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08108" y="2450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08108" y="2788920"/>
            <a:ext cx="1431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08108" y="3154680"/>
            <a:ext cx="1431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(0–100) + alert if threshold crossed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(offline, separate pipeline):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49834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70/15/15 train / validation / test split — no future leakage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Per-card behavior features computed only from that card's prior transactions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chosen on validation data by max F-beta (β=2) with a minimum-precision guard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time-ordered cross-validation to estimate stability of recall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5" name="Image 0" descr="assets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199156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38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Flask-Bcrypt, Flask-Limiter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920240"/>
            <a:ext cx="548640" cy="5486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9" name="Image 1" descr="assets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723" y="1991563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1938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4340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(RandomForest), pandas, NumPy, joblib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1920240"/>
            <a:ext cx="548640" cy="5486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3" name="Image 2" descr="assets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043" y="199156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23960" y="1938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Storage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4672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pandas (CSV ingestion)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7" name="Image 3" descr="assets/icon_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" y="4094683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041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HTML, vanilla JavaScript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4023360"/>
            <a:ext cx="548640" cy="5486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21" name="Image 4" descr="assets/icon_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723" y="4094683"/>
            <a:ext cx="405994" cy="4059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0640" y="4041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4340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logging, pytest-style smoke tests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4023360"/>
            <a:ext cx="548640" cy="5486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25" name="Image 5" descr="assets/icon_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043" y="4094683"/>
            <a:ext cx="405994" cy="40599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23960" y="4041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04672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(render.yaml), environment-based secrets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Measures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— never stored or compared in plain text.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rate-limited (5 attempts/minute) to blunt credential-stuffing and brute force.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“invalid username or password” response — prevents user enumeration.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refuses to start if SECRET_KEY is unset or left at its insecure default.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state-changing route sits behind a session-authentication decorator.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prediction endpoints are rate-limited and row/size-capped.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dynamic content is HTML-escaped client-side before rendering — no stored-XSS surface.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35240" y="1783080"/>
            <a:ext cx="3931920" cy="4160520"/>
          </a:xfrm>
          <a:prstGeom prst="roundRect">
            <a:avLst>
              <a:gd name="adj" fmla="val 2791"/>
            </a:avLst>
          </a:prstGeom>
          <a:solidFill>
            <a:srgbClr val="0C1830"/>
          </a:solidFill>
          <a:ln/>
        </p:spPr>
      </p:sp>
      <p:sp>
        <p:nvSpPr>
          <p:cNvPr id="6" name="Shape 4"/>
          <p:cNvSpPr/>
          <p:nvPr/>
        </p:nvSpPr>
        <p:spPr>
          <a:xfrm>
            <a:off x="8001000" y="2148840"/>
            <a:ext cx="731520" cy="7315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7" name="Image 0" descr="assets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98" y="224393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 &amp; hardened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35204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underwent a security-focused code review; a CSRF gap on two verification endpoints was identified and is being closed before final defense.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13224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834640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1512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11552" y="2834640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8" name="Text 6"/>
          <p:cNvSpPr/>
          <p:nvPr/>
        </p:nvSpPr>
        <p:spPr>
          <a:xfrm>
            <a:off x="2557272" y="2834640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2984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83024" y="2834640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11" name="Text 9"/>
          <p:cNvSpPr/>
          <p:nvPr/>
        </p:nvSpPr>
        <p:spPr>
          <a:xfrm>
            <a:off x="4428744" y="2834640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34456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54496" y="2834640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13224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0216" y="2834640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Scaler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05928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5968" y="2834640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D72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171688" y="2834640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Alert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77400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97440" y="2834640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3160" y="2834640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— whether typed into the form or uploaded via CSV — travels through the same authenticated pipeline before it reaches storage.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smoke tests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check, login (valid + invalid credentials), logout-then-blocked-access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prediction for known normal / fraud sample payloads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rejected (malformed date returns HTTP 400)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batch upload, sample CSV download, and report export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totals reflect what was just submitted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66560" y="1783080"/>
            <a:ext cx="4800600" cy="4206240"/>
          </a:xfrm>
          <a:prstGeom prst="roundRect">
            <a:avLst>
              <a:gd name="adj" fmla="val 2609"/>
            </a:avLst>
          </a:prstGeom>
          <a:solidFill>
            <a:srgbClr val="F5F7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132242"/>
          </a:solidFill>
          <a:ln/>
        </p:spPr>
      </p:sp>
      <p:pic>
        <p:nvPicPr>
          <p:cNvPr id="8" name="Image 0" descr="assets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9810" y="218633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2880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metrics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86600" y="3337560"/>
            <a:ext cx="4206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 and F2 (recall-weighted)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and ROC-AUC on a held-out chronological test split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and full classification report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time-ordered CV for recall stability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E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state assumes a single application process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verification endpoints need CSRF hardening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single dataset snapshot — no live retraining loop yet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E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enhancements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Multi-worker safe persistence (shared DB reads on every request)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tokens on all state-changing endpoints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model retraining as new labeled data arrives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multiple reviewers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2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delivers real-time, ML-backed fraud scoring layered with behavior-aware heuristics — not amount thresholds alone.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covers the full loop: score → alert → operator review → verification, backed by a properly leakage-free training pipeline.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rate limiting, and secret management were treated as first-class requirements, not afterthoughts.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practical skills across ML engineering, backend API design, and applied security — with a clear, prioritized roadmap for what's next.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SHIELD  |  PRE-DEFENSE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13224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4" name="Image 0" descr="assets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111282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657600"/>
            <a:ext cx="2011680" cy="0"/>
          </a:xfrm>
          <a:prstGeom prst="line">
            <a:avLst/>
          </a:prstGeom>
          <a:noFill/>
          <a:ln w="31750">
            <a:solidFill>
              <a:srgbClr val="D72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 Shrestha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Chand Yadav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Kumar Shah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577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Sagar Dhakal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2026-07-23T11:57:28Z</dcterms:created>
  <dcterms:modified xsi:type="dcterms:W3CDTF">2026-07-23T11:57:28Z</dcterms:modified>
</cp:coreProperties>
</file>