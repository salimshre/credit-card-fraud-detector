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NP"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Remember to keep your slides simple and easy to read. Use visuals to help illustrate your points, and use bullet points to keep text to a minimum. Make sure your font is large enough to be easily read from the back of the room. And most importantly, practice your presentation so you feel confident and comfortable on the 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NP"/>
              <a:t>Cover Slide: </a:t>
            </a:r>
            <a:endParaRPr/>
          </a:p>
          <a:p>
            <a:pPr indent="-317500" lvl="0" marL="457200" rtl="0" algn="l">
              <a:spcBef>
                <a:spcPts val="0"/>
              </a:spcBef>
              <a:spcAft>
                <a:spcPts val="0"/>
              </a:spcAft>
              <a:buSzPts val="1400"/>
              <a:buChar char="●"/>
            </a:pPr>
            <a:r>
              <a:rPr lang="en-NP"/>
              <a:t>This slide should introduce your topic and include the title of your presentation and your name.</a:t>
            </a:r>
            <a:endParaRPr/>
          </a:p>
        </p:txBody>
      </p:sp>
      <p:sp>
        <p:nvSpPr>
          <p:cNvPr id="45" name="Google Shape;4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NP"/>
              <a:t>Content/Agenda: </a:t>
            </a:r>
            <a:endParaRPr b="1"/>
          </a:p>
          <a:p>
            <a:pPr indent="-317500" lvl="0" marL="457200" rtl="0" algn="l">
              <a:spcBef>
                <a:spcPts val="0"/>
              </a:spcBef>
              <a:spcAft>
                <a:spcPts val="0"/>
              </a:spcAft>
              <a:buSzPts val="1400"/>
              <a:buChar char="●"/>
            </a:pPr>
            <a:r>
              <a:rPr lang="en-NP"/>
              <a:t>On this slide, provide a quick overview of what your presentation will cover. This will help your audience understand what to expect.</a:t>
            </a:r>
            <a:endParaRPr/>
          </a:p>
        </p:txBody>
      </p:sp>
      <p:sp>
        <p:nvSpPr>
          <p:cNvPr id="54" name="Google Shape;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NP"/>
              <a:t>Introduction</a:t>
            </a:r>
            <a:endParaRPr b="1"/>
          </a:p>
          <a:p>
            <a:pPr indent="-317500" lvl="0" marL="457200" rtl="0" algn="l">
              <a:spcBef>
                <a:spcPts val="0"/>
              </a:spcBef>
              <a:spcAft>
                <a:spcPts val="0"/>
              </a:spcAft>
              <a:buSzPts val="1400"/>
              <a:buChar char="●"/>
            </a:pPr>
            <a:r>
              <a:rPr lang="en-NP"/>
              <a:t>Explain why this topic is important to you and to your intended audience.</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Providing a brief overview of the project idea</a:t>
            </a:r>
            <a:endParaRPr/>
          </a:p>
          <a:p>
            <a:pPr indent="-317500" lvl="0" marL="457200" rtl="0" algn="l">
              <a:spcBef>
                <a:spcPts val="0"/>
              </a:spcBef>
              <a:spcAft>
                <a:spcPts val="0"/>
              </a:spcAft>
              <a:buSzPts val="1400"/>
              <a:buChar char="●"/>
            </a:pPr>
            <a:r>
              <a:rPr lang="en-NP"/>
              <a:t>Describing the scope and goals of the project</a:t>
            </a:r>
            <a:endParaRPr/>
          </a:p>
          <a:p>
            <a:pPr indent="-317500" lvl="0" marL="457200" rtl="0" algn="l">
              <a:spcBef>
                <a:spcPts val="0"/>
              </a:spcBef>
              <a:spcAft>
                <a:spcPts val="0"/>
              </a:spcAft>
              <a:buSzPts val="1400"/>
              <a:buChar char="●"/>
            </a:pPr>
            <a:r>
              <a:rPr lang="en-NP"/>
              <a:t>Introducing the project team members and their roles</a:t>
            </a:r>
            <a:endParaRPr/>
          </a:p>
          <a:p>
            <a:pPr indent="0" lvl="0" marL="0" rtl="0" algn="l">
              <a:spcBef>
                <a:spcPts val="0"/>
              </a:spcBef>
              <a:spcAft>
                <a:spcPts val="0"/>
              </a:spcAft>
              <a:buNone/>
            </a:pPr>
            <a:r>
              <a:t/>
            </a:r>
            <a:endParaRPr/>
          </a:p>
        </p:txBody>
      </p:sp>
      <p:sp>
        <p:nvSpPr>
          <p:cNvPr id="62" name="Google Shape;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NP"/>
              <a:t>Problem Statement</a:t>
            </a:r>
            <a:endParaRPr b="1"/>
          </a:p>
          <a:p>
            <a:pPr indent="-317500" lvl="0" marL="457200" rtl="0" algn="l">
              <a:spcBef>
                <a:spcPts val="0"/>
              </a:spcBef>
              <a:spcAft>
                <a:spcPts val="0"/>
              </a:spcAft>
              <a:buSzPts val="1400"/>
              <a:buChar char="●"/>
            </a:pPr>
            <a:r>
              <a:rPr lang="en-NP"/>
              <a:t>Explain the problem you are trying to solve or the opportunity you are trying to seize. Use data or statistics to support your claims.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Identifying the problem that the project aims to solve</a:t>
            </a:r>
            <a:endParaRPr/>
          </a:p>
          <a:p>
            <a:pPr indent="-317500" lvl="0" marL="457200" rtl="0" algn="l">
              <a:spcBef>
                <a:spcPts val="0"/>
              </a:spcBef>
              <a:spcAft>
                <a:spcPts val="0"/>
              </a:spcAft>
              <a:buSzPts val="1400"/>
              <a:buChar char="●"/>
            </a:pPr>
            <a:r>
              <a:rPr lang="en-NP"/>
              <a:t>Providing background information and context for the problem</a:t>
            </a:r>
            <a:endParaRPr/>
          </a:p>
          <a:p>
            <a:pPr indent="-317500" lvl="0" marL="457200" rtl="0" algn="l">
              <a:spcBef>
                <a:spcPts val="0"/>
              </a:spcBef>
              <a:spcAft>
                <a:spcPts val="0"/>
              </a:spcAft>
              <a:buSzPts val="1400"/>
              <a:buChar char="●"/>
            </a:pPr>
            <a:r>
              <a:rPr lang="en-NP"/>
              <a:t>Highlighting the importance and impact of the problem on the target audience or stakeholders</a:t>
            </a:r>
            <a:endParaRPr/>
          </a:p>
          <a:p>
            <a:pPr indent="0" lvl="0" marL="0" rtl="0" algn="l">
              <a:spcBef>
                <a:spcPts val="0"/>
              </a:spcBef>
              <a:spcAft>
                <a:spcPts val="0"/>
              </a:spcAft>
              <a:buNone/>
            </a:pPr>
            <a:r>
              <a:t/>
            </a:r>
            <a:endParaRPr b="1"/>
          </a:p>
        </p:txBody>
      </p:sp>
      <p:sp>
        <p:nvSpPr>
          <p:cNvPr id="70" name="Google Shape;7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NP"/>
              <a:t>Motivate</a:t>
            </a:r>
            <a:endParaRPr b="1"/>
          </a:p>
          <a:p>
            <a:pPr indent="-317500" lvl="0" marL="457200" rtl="0" algn="l">
              <a:spcBef>
                <a:spcPts val="0"/>
              </a:spcBef>
              <a:spcAft>
                <a:spcPts val="0"/>
              </a:spcAft>
              <a:buSzPts val="1400"/>
              <a:buChar char="●"/>
            </a:pPr>
            <a:r>
              <a:rPr lang="en-NP"/>
              <a:t>Explain why this problem or opportunity is important to you and to your intended audience. Use examples or stories to illustrate your point.</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Explaining the reason behind selecting this project idea</a:t>
            </a:r>
            <a:endParaRPr/>
          </a:p>
          <a:p>
            <a:pPr indent="-317500" lvl="0" marL="457200" rtl="0" algn="l">
              <a:spcBef>
                <a:spcPts val="0"/>
              </a:spcBef>
              <a:spcAft>
                <a:spcPts val="0"/>
              </a:spcAft>
              <a:buSzPts val="1400"/>
              <a:buChar char="●"/>
            </a:pPr>
            <a:r>
              <a:rPr lang="en-NP"/>
              <a:t>Discussing the potential benefits and outcomes of the project</a:t>
            </a:r>
            <a:endParaRPr/>
          </a:p>
          <a:p>
            <a:pPr indent="-317500" lvl="0" marL="457200" rtl="0" algn="l">
              <a:spcBef>
                <a:spcPts val="0"/>
              </a:spcBef>
              <a:spcAft>
                <a:spcPts val="0"/>
              </a:spcAft>
              <a:buSzPts val="1400"/>
              <a:buChar char="●"/>
            </a:pPr>
            <a:r>
              <a:rPr lang="en-NP"/>
              <a:t>Identifying any existing solutions or alternatives and their limitations</a:t>
            </a:r>
            <a:endParaRPr/>
          </a:p>
          <a:p>
            <a:pPr indent="0" lvl="0" marL="0" rtl="0" algn="l">
              <a:spcBef>
                <a:spcPts val="0"/>
              </a:spcBef>
              <a:spcAft>
                <a:spcPts val="0"/>
              </a:spcAft>
              <a:buNone/>
            </a:pPr>
            <a:r>
              <a:t/>
            </a:r>
            <a:endParaRPr/>
          </a:p>
        </p:txBody>
      </p:sp>
      <p:sp>
        <p:nvSpPr>
          <p:cNvPr id="78" name="Google Shape;7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Objectives</a:t>
            </a:r>
            <a:endParaRPr/>
          </a:p>
          <a:p>
            <a:pPr indent="-317500" lvl="0" marL="457200" rtl="0" algn="l">
              <a:spcBef>
                <a:spcPts val="0"/>
              </a:spcBef>
              <a:spcAft>
                <a:spcPts val="0"/>
              </a:spcAft>
              <a:buSzPts val="1400"/>
              <a:buChar char="●"/>
            </a:pPr>
            <a:r>
              <a:rPr lang="en-NP"/>
              <a:t>Explain your project objectives, including any specific goals you have set for yourself or your team. Be sure to explain how you will measure success.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Defining the objectives of the project in terms of outcomes and impact</a:t>
            </a:r>
            <a:endParaRPr/>
          </a:p>
          <a:p>
            <a:pPr indent="-317500" lvl="0" marL="457200" rtl="0" algn="l">
              <a:spcBef>
                <a:spcPts val="0"/>
              </a:spcBef>
              <a:spcAft>
                <a:spcPts val="0"/>
              </a:spcAft>
              <a:buSzPts val="1400"/>
              <a:buChar char="●"/>
            </a:pPr>
            <a:r>
              <a:rPr lang="en-NP"/>
              <a:t>Providing a clear and measurable definition of success for the project</a:t>
            </a:r>
            <a:endParaRPr/>
          </a:p>
          <a:p>
            <a:pPr indent="-317500" lvl="0" marL="457200" rtl="0" algn="l">
              <a:spcBef>
                <a:spcPts val="0"/>
              </a:spcBef>
              <a:spcAft>
                <a:spcPts val="0"/>
              </a:spcAft>
              <a:buSzPts val="1400"/>
              <a:buChar char="●"/>
            </a:pPr>
            <a:r>
              <a:rPr lang="en-NP"/>
              <a:t>Outlining the target audience or stakeholders of the project and their needs</a:t>
            </a:r>
            <a:endParaRPr/>
          </a:p>
        </p:txBody>
      </p:sp>
      <p:sp>
        <p:nvSpPr>
          <p:cNvPr id="86" name="Google Shape;8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Features</a:t>
            </a:r>
            <a:endParaRPr/>
          </a:p>
          <a:p>
            <a:pPr indent="-317500" lvl="0" marL="457200" rtl="0" algn="l">
              <a:spcBef>
                <a:spcPts val="0"/>
              </a:spcBef>
              <a:spcAft>
                <a:spcPts val="0"/>
              </a:spcAft>
              <a:buSzPts val="1400"/>
              <a:buChar char="●"/>
            </a:pPr>
            <a:r>
              <a:rPr lang="en-NP"/>
              <a:t>Describe the key features of your proposed solution. Use visuals or diagrams to help illustrate how it works.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Clr>
                <a:schemeClr val="dk1"/>
              </a:buClr>
              <a:buSzPts val="1400"/>
              <a:buChar char="●"/>
            </a:pPr>
            <a:r>
              <a:rPr lang="en-NP"/>
              <a:t>Describing the key features and functionalities of the project</a:t>
            </a:r>
            <a:endParaRPr/>
          </a:p>
          <a:p>
            <a:pPr indent="-317500" lvl="0" marL="457200" rtl="0" algn="l">
              <a:spcBef>
                <a:spcPts val="0"/>
              </a:spcBef>
              <a:spcAft>
                <a:spcPts val="0"/>
              </a:spcAft>
              <a:buClr>
                <a:schemeClr val="dk1"/>
              </a:buClr>
              <a:buSzPts val="1400"/>
              <a:buChar char="●"/>
            </a:pPr>
            <a:r>
              <a:rPr lang="en-NP"/>
              <a:t>Discussing any unique or innovative aspects of the project</a:t>
            </a:r>
            <a:endParaRPr/>
          </a:p>
          <a:p>
            <a:pPr indent="-317500" lvl="0" marL="457200" rtl="0" algn="l">
              <a:spcBef>
                <a:spcPts val="0"/>
              </a:spcBef>
              <a:spcAft>
                <a:spcPts val="0"/>
              </a:spcAft>
              <a:buClr>
                <a:schemeClr val="dk1"/>
              </a:buClr>
              <a:buSzPts val="1400"/>
              <a:buChar char="●"/>
            </a:pPr>
            <a:r>
              <a:rPr lang="en-NP"/>
              <a:t>Outlining the expected deliverables and outcomes of the project</a:t>
            </a:r>
            <a:endParaRPr/>
          </a:p>
        </p:txBody>
      </p:sp>
      <p:sp>
        <p:nvSpPr>
          <p:cNvPr id="94" name="Google Shape;9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Platform / Development </a:t>
            </a:r>
            <a:r>
              <a:rPr lang="en-NP"/>
              <a:t>Environment</a:t>
            </a:r>
            <a:endParaRPr/>
          </a:p>
          <a:p>
            <a:pPr indent="-317500" lvl="0" marL="457200" rtl="0" algn="l">
              <a:spcBef>
                <a:spcPts val="0"/>
              </a:spcBef>
              <a:spcAft>
                <a:spcPts val="0"/>
              </a:spcAft>
              <a:buSzPts val="1400"/>
              <a:buChar char="●"/>
            </a:pPr>
            <a:r>
              <a:rPr lang="en-NP"/>
              <a:t>Explain the development environment you will be using to build your solution. Discuss any key tools or technologies you will be using.</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Identifying the programming language and development tools used for the project</a:t>
            </a:r>
            <a:endParaRPr/>
          </a:p>
          <a:p>
            <a:pPr indent="-317500" lvl="0" marL="457200" rtl="0" algn="l">
              <a:spcBef>
                <a:spcPts val="0"/>
              </a:spcBef>
              <a:spcAft>
                <a:spcPts val="0"/>
              </a:spcAft>
              <a:buSzPts val="1400"/>
              <a:buChar char="●"/>
            </a:pPr>
            <a:r>
              <a:rPr lang="en-NP"/>
              <a:t>Discussing any relevant technical requirements or constraints</a:t>
            </a:r>
            <a:endParaRPr/>
          </a:p>
          <a:p>
            <a:pPr indent="-317500" lvl="0" marL="457200" rtl="0" algn="l">
              <a:spcBef>
                <a:spcPts val="0"/>
              </a:spcBef>
              <a:spcAft>
                <a:spcPts val="0"/>
              </a:spcAft>
              <a:buSzPts val="1400"/>
              <a:buChar char="●"/>
            </a:pPr>
            <a:r>
              <a:rPr lang="en-NP"/>
              <a:t>Outlining the testing and debugging strategies for the project</a:t>
            </a:r>
            <a:endParaRPr/>
          </a:p>
        </p:txBody>
      </p:sp>
      <p:sp>
        <p:nvSpPr>
          <p:cNvPr id="102" name="Google Shape;1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Planned Timeline / Gantt Chart (</a:t>
            </a:r>
            <a:r>
              <a:rPr lang="en-NP"/>
              <a:t>Roadmap)</a:t>
            </a:r>
            <a:endParaRPr/>
          </a:p>
          <a:p>
            <a:pPr indent="-317500" lvl="0" marL="457200" rtl="0" algn="l">
              <a:spcBef>
                <a:spcPts val="0"/>
              </a:spcBef>
              <a:spcAft>
                <a:spcPts val="0"/>
              </a:spcAft>
              <a:buSzPts val="1400"/>
              <a:buChar char="●"/>
            </a:pPr>
            <a:r>
              <a:rPr lang="en-NP"/>
              <a:t>Use a Gantt chart or similar tool to illustrate your proposed timeline. Be sure to include key milestones and deadlines.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Creating a Gantt chart to show the proposed timeline for the project</a:t>
            </a:r>
            <a:endParaRPr/>
          </a:p>
          <a:p>
            <a:pPr indent="-317500" lvl="0" marL="457200" rtl="0" algn="l">
              <a:spcBef>
                <a:spcPts val="0"/>
              </a:spcBef>
              <a:spcAft>
                <a:spcPts val="0"/>
              </a:spcAft>
              <a:buSzPts val="1400"/>
              <a:buChar char="●"/>
            </a:pPr>
            <a:r>
              <a:rPr lang="en-NP"/>
              <a:t>Breaking down the project into manageable tasks and milestones</a:t>
            </a:r>
            <a:endParaRPr/>
          </a:p>
          <a:p>
            <a:pPr indent="-317500" lvl="0" marL="457200" rtl="0" algn="l">
              <a:spcBef>
                <a:spcPts val="0"/>
              </a:spcBef>
              <a:spcAft>
                <a:spcPts val="0"/>
              </a:spcAft>
              <a:buSzPts val="1400"/>
              <a:buChar char="●"/>
            </a:pPr>
            <a:r>
              <a:rPr lang="en-NP"/>
              <a:t>Identifying any critical path or dependencies in the project timeline</a:t>
            </a:r>
            <a:endParaRPr/>
          </a:p>
        </p:txBody>
      </p:sp>
      <p:sp>
        <p:nvSpPr>
          <p:cNvPr id="110" name="Google Shape;11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123a11ca8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2123a11ca8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Business Model (Marketing and sales plan)</a:t>
            </a:r>
            <a:endParaRPr/>
          </a:p>
          <a:p>
            <a:pPr indent="-317500" lvl="0" marL="457200" rtl="0" algn="l">
              <a:spcBef>
                <a:spcPts val="0"/>
              </a:spcBef>
              <a:spcAft>
                <a:spcPts val="0"/>
              </a:spcAft>
              <a:buSzPts val="1400"/>
              <a:buChar char="●"/>
            </a:pPr>
            <a:r>
              <a:rPr lang="en-NP"/>
              <a:t>Explain your proposed business model, including your revenue streams, customer segments, and distribution channels.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Discussing the potential revenue streams or cost savings generated by the project</a:t>
            </a:r>
            <a:endParaRPr/>
          </a:p>
          <a:p>
            <a:pPr indent="-317500" lvl="0" marL="457200" rtl="0" algn="l">
              <a:spcBef>
                <a:spcPts val="0"/>
              </a:spcBef>
              <a:spcAft>
                <a:spcPts val="0"/>
              </a:spcAft>
              <a:buSzPts val="1400"/>
              <a:buChar char="●"/>
            </a:pPr>
            <a:r>
              <a:rPr lang="en-NP"/>
              <a:t>Outlining the target market or customers for the project</a:t>
            </a:r>
            <a:endParaRPr/>
          </a:p>
          <a:p>
            <a:pPr indent="-317500" lvl="0" marL="457200" rtl="0" algn="l">
              <a:spcBef>
                <a:spcPts val="0"/>
              </a:spcBef>
              <a:spcAft>
                <a:spcPts val="0"/>
              </a:spcAft>
              <a:buSzPts val="1400"/>
              <a:buChar char="●"/>
            </a:pPr>
            <a:r>
              <a:rPr lang="en-NP"/>
              <a:t>Identifying any partnerships or collaborations necessary for the project's success</a:t>
            </a:r>
            <a:endParaRPr/>
          </a:p>
        </p:txBody>
      </p:sp>
      <p:sp>
        <p:nvSpPr>
          <p:cNvPr id="118" name="Google Shape;118;g2123a11ca8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Conclusion</a:t>
            </a:r>
            <a:endParaRPr/>
          </a:p>
          <a:p>
            <a:pPr indent="-317500" lvl="0" marL="457200" rtl="0" algn="l">
              <a:spcBef>
                <a:spcPts val="0"/>
              </a:spcBef>
              <a:spcAft>
                <a:spcPts val="0"/>
              </a:spcAft>
              <a:buSzPts val="1400"/>
              <a:buChar char="●"/>
            </a:pPr>
            <a:r>
              <a:rPr lang="en-NP"/>
              <a:t>Summarize your presentation and emphasize why your proposed solution is important. Thank your audience for their time.</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Summarizing the main points of the project proposal</a:t>
            </a:r>
            <a:endParaRPr/>
          </a:p>
          <a:p>
            <a:pPr indent="-317500" lvl="0" marL="457200" rtl="0" algn="l">
              <a:spcBef>
                <a:spcPts val="0"/>
              </a:spcBef>
              <a:spcAft>
                <a:spcPts val="0"/>
              </a:spcAft>
              <a:buSzPts val="1400"/>
              <a:buChar char="●"/>
            </a:pPr>
            <a:r>
              <a:rPr lang="en-NP"/>
              <a:t>Reiterating the relevance and significance of the project</a:t>
            </a:r>
            <a:endParaRPr/>
          </a:p>
          <a:p>
            <a:pPr indent="-317500" lvl="0" marL="457200" rtl="0" algn="l">
              <a:spcBef>
                <a:spcPts val="0"/>
              </a:spcBef>
              <a:spcAft>
                <a:spcPts val="0"/>
              </a:spcAft>
              <a:buSzPts val="1400"/>
              <a:buChar char="●"/>
            </a:pPr>
            <a:r>
              <a:rPr lang="en-NP"/>
              <a:t>Request for  feedback and suggestions for improvement.</a:t>
            </a:r>
            <a:endParaRPr/>
          </a:p>
        </p:txBody>
      </p:sp>
      <p:sp>
        <p:nvSpPr>
          <p:cNvPr id="126" name="Google Shape;12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123a11ca8e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2123a11ca8e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Question/Queries will be made by the evaluation team after the end of presentation</a:t>
            </a:r>
            <a:endParaRPr/>
          </a:p>
        </p:txBody>
      </p:sp>
      <p:sp>
        <p:nvSpPr>
          <p:cNvPr id="134" name="Google Shape;134;g2123a11ca8e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4" name="Shape 24"/>
        <p:cNvGrpSpPr/>
        <p:nvPr/>
      </p:nvGrpSpPr>
      <p:grpSpPr>
        <a:xfrm>
          <a:off x="0" y="0"/>
          <a:ext cx="0" cy="0"/>
          <a:chOff x="0" y="0"/>
          <a:chExt cx="0" cy="0"/>
        </a:xfrm>
      </p:grpSpPr>
      <p:grpSp>
        <p:nvGrpSpPr>
          <p:cNvPr id="25" name="Google Shape;25;p2"/>
          <p:cNvGrpSpPr/>
          <p:nvPr/>
        </p:nvGrpSpPr>
        <p:grpSpPr>
          <a:xfrm>
            <a:off x="0" y="-8467"/>
            <a:ext cx="12192000" cy="6866467"/>
            <a:chOff x="0" y="-8467"/>
            <a:chExt cx="12192000" cy="6866467"/>
          </a:xfrm>
        </p:grpSpPr>
        <p:sp>
          <p:nvSpPr>
            <p:cNvPr id="26" name="Google Shape;26;p2"/>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27" name="Google Shape;27;p2"/>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28" name="Google Shape;28;p2"/>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29" name="Google Shape;29;p2"/>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30" name="Google Shape;30;p2"/>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1" name="Google Shape;31;p2"/>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33" name="Google Shape;33;p2"/>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34" name="Google Shape;34;p2"/>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35" name="Google Shape;35;p2"/>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Font typeface="Cambria"/>
              <a:buNone/>
              <a:defRPr b="1">
                <a:latin typeface="Cambria"/>
                <a:ea typeface="Cambria"/>
                <a:cs typeface="Cambria"/>
                <a:sym typeface="Cambr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lvl1pPr indent="-350520" lvl="0" marL="457200" algn="l">
              <a:spcBef>
                <a:spcPts val="1000"/>
              </a:spcBef>
              <a:spcAft>
                <a:spcPts val="0"/>
              </a:spcAft>
              <a:buSzPts val="1920"/>
              <a:buFont typeface="Cambria"/>
              <a:buChar char="►"/>
              <a:defRPr sz="2400">
                <a:latin typeface="Cambria"/>
                <a:ea typeface="Cambria"/>
                <a:cs typeface="Cambria"/>
                <a:sym typeface="Cambria"/>
              </a:defRPr>
            </a:lvl1pPr>
            <a:lvl2pPr indent="-340360" lvl="1" marL="914400" algn="l">
              <a:spcBef>
                <a:spcPts val="1000"/>
              </a:spcBef>
              <a:spcAft>
                <a:spcPts val="0"/>
              </a:spcAft>
              <a:buSzPts val="1760"/>
              <a:buFont typeface="Cambria"/>
              <a:buChar char="►"/>
              <a:defRPr sz="2200">
                <a:latin typeface="Cambria"/>
                <a:ea typeface="Cambria"/>
                <a:cs typeface="Cambria"/>
                <a:sym typeface="Cambria"/>
              </a:defRPr>
            </a:lvl2pPr>
            <a:lvl3pPr indent="-330200" lvl="2" marL="1371600" algn="l">
              <a:spcBef>
                <a:spcPts val="1000"/>
              </a:spcBef>
              <a:spcAft>
                <a:spcPts val="0"/>
              </a:spcAft>
              <a:buSzPts val="1600"/>
              <a:buFont typeface="Cambria"/>
              <a:buChar char="►"/>
              <a:defRPr sz="2000">
                <a:latin typeface="Cambria"/>
                <a:ea typeface="Cambria"/>
                <a:cs typeface="Cambria"/>
                <a:sym typeface="Cambria"/>
              </a:defRPr>
            </a:lvl3pPr>
            <a:lvl4pPr indent="-309880" lvl="3" marL="1828800" algn="l">
              <a:spcBef>
                <a:spcPts val="1000"/>
              </a:spcBef>
              <a:spcAft>
                <a:spcPts val="0"/>
              </a:spcAft>
              <a:buSzPts val="1280"/>
              <a:buFont typeface="Cambria"/>
              <a:buChar char="►"/>
              <a:defRPr sz="1600">
                <a:latin typeface="Cambria"/>
                <a:ea typeface="Cambria"/>
                <a:cs typeface="Cambria"/>
                <a:sym typeface="Cambria"/>
              </a:defRPr>
            </a:lvl4pPr>
            <a:lvl5pPr indent="-299720" lvl="4" marL="2286000" algn="l">
              <a:spcBef>
                <a:spcPts val="1000"/>
              </a:spcBef>
              <a:spcAft>
                <a:spcPts val="0"/>
              </a:spcAft>
              <a:buSzPts val="1120"/>
              <a:buFont typeface="Cambria"/>
              <a:buChar char="►"/>
              <a:defRPr sz="1400">
                <a:latin typeface="Cambria"/>
                <a:ea typeface="Cambria"/>
                <a:cs typeface="Cambria"/>
                <a:sym typeface="Cambria"/>
              </a:defRPr>
            </a:lvl5pPr>
            <a:lvl6pPr indent="-320040" lvl="5" marL="2743200" algn="l">
              <a:spcBef>
                <a:spcPts val="1000"/>
              </a:spcBef>
              <a:spcAft>
                <a:spcPts val="0"/>
              </a:spcAft>
              <a:buSzPts val="1440"/>
              <a:buFont typeface="Cambria"/>
              <a:buChar char="►"/>
              <a:defRPr>
                <a:latin typeface="Cambria"/>
                <a:ea typeface="Cambria"/>
                <a:cs typeface="Cambria"/>
                <a:sym typeface="Cambria"/>
              </a:defRPr>
            </a:lvl6pPr>
            <a:lvl7pPr indent="-320040" lvl="6" marL="3200400" algn="l">
              <a:spcBef>
                <a:spcPts val="1000"/>
              </a:spcBef>
              <a:spcAft>
                <a:spcPts val="0"/>
              </a:spcAft>
              <a:buSzPts val="1440"/>
              <a:buFont typeface="Cambria"/>
              <a:buChar char="►"/>
              <a:defRPr>
                <a:latin typeface="Cambria"/>
                <a:ea typeface="Cambria"/>
                <a:cs typeface="Cambria"/>
                <a:sym typeface="Cambria"/>
              </a:defRPr>
            </a:lvl7pPr>
            <a:lvl8pPr indent="-320040" lvl="7" marL="3657600" algn="l">
              <a:spcBef>
                <a:spcPts val="1000"/>
              </a:spcBef>
              <a:spcAft>
                <a:spcPts val="0"/>
              </a:spcAft>
              <a:buSzPts val="1440"/>
              <a:buFont typeface="Cambria"/>
              <a:buChar char="►"/>
              <a:defRPr>
                <a:latin typeface="Cambria"/>
                <a:ea typeface="Cambria"/>
                <a:cs typeface="Cambria"/>
                <a:sym typeface="Cambria"/>
              </a:defRPr>
            </a:lvl8pPr>
            <a:lvl9pPr indent="-320040" lvl="8" marL="4114800" algn="l">
              <a:spcBef>
                <a:spcPts val="1000"/>
              </a:spcBef>
              <a:spcAft>
                <a:spcPts val="0"/>
              </a:spcAft>
              <a:buSzPts val="1440"/>
              <a:buFont typeface="Cambria"/>
              <a:buChar char="►"/>
              <a:defRPr>
                <a:latin typeface="Cambria"/>
                <a:ea typeface="Cambria"/>
                <a:cs typeface="Cambria"/>
                <a:sym typeface="Cambria"/>
              </a:defRPr>
            </a:lvl9pPr>
          </a:lstStyle>
          <a:p/>
        </p:txBody>
      </p:sp>
      <p:sp>
        <p:nvSpPr>
          <p:cNvPr id="41" name="Google Shape;41;p3"/>
          <p:cNvSpPr txBox="1"/>
          <p:nvPr>
            <p:ph idx="12" type="sldNum"/>
          </p:nvPr>
        </p:nvSpPr>
        <p:spPr>
          <a:xfrm>
            <a:off x="11310438" y="6314637"/>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Cambria"/>
                <a:ea typeface="Cambria"/>
                <a:cs typeface="Cambria"/>
                <a:sym typeface="Cambria"/>
              </a:defRPr>
            </a:lvl1pPr>
            <a:lvl2pPr indent="0" lvl="1" marL="0" algn="r">
              <a:spcBef>
                <a:spcPts val="0"/>
              </a:spcBef>
              <a:buNone/>
              <a:defRPr b="1" sz="1800">
                <a:solidFill>
                  <a:schemeClr val="lt1"/>
                </a:solidFill>
                <a:latin typeface="Cambria"/>
                <a:ea typeface="Cambria"/>
                <a:cs typeface="Cambria"/>
                <a:sym typeface="Cambria"/>
              </a:defRPr>
            </a:lvl2pPr>
            <a:lvl3pPr indent="0" lvl="2" marL="0" algn="r">
              <a:spcBef>
                <a:spcPts val="0"/>
              </a:spcBef>
              <a:buNone/>
              <a:defRPr b="1" sz="1800">
                <a:solidFill>
                  <a:schemeClr val="lt1"/>
                </a:solidFill>
                <a:latin typeface="Cambria"/>
                <a:ea typeface="Cambria"/>
                <a:cs typeface="Cambria"/>
                <a:sym typeface="Cambria"/>
              </a:defRPr>
            </a:lvl3pPr>
            <a:lvl4pPr indent="0" lvl="3" marL="0" algn="r">
              <a:spcBef>
                <a:spcPts val="0"/>
              </a:spcBef>
              <a:buNone/>
              <a:defRPr b="1" sz="1800">
                <a:solidFill>
                  <a:schemeClr val="lt1"/>
                </a:solidFill>
                <a:latin typeface="Cambria"/>
                <a:ea typeface="Cambria"/>
                <a:cs typeface="Cambria"/>
                <a:sym typeface="Cambria"/>
              </a:defRPr>
            </a:lvl4pPr>
            <a:lvl5pPr indent="0" lvl="4" marL="0" algn="r">
              <a:spcBef>
                <a:spcPts val="0"/>
              </a:spcBef>
              <a:buNone/>
              <a:defRPr b="1" sz="1800">
                <a:solidFill>
                  <a:schemeClr val="lt1"/>
                </a:solidFill>
                <a:latin typeface="Cambria"/>
                <a:ea typeface="Cambria"/>
                <a:cs typeface="Cambria"/>
                <a:sym typeface="Cambria"/>
              </a:defRPr>
            </a:lvl5pPr>
            <a:lvl6pPr indent="0" lvl="5" marL="0" algn="r">
              <a:spcBef>
                <a:spcPts val="0"/>
              </a:spcBef>
              <a:buNone/>
              <a:defRPr b="1" sz="1800">
                <a:solidFill>
                  <a:schemeClr val="lt1"/>
                </a:solidFill>
                <a:latin typeface="Cambria"/>
                <a:ea typeface="Cambria"/>
                <a:cs typeface="Cambria"/>
                <a:sym typeface="Cambria"/>
              </a:defRPr>
            </a:lvl6pPr>
            <a:lvl7pPr indent="0" lvl="6" marL="0" algn="r">
              <a:spcBef>
                <a:spcPts val="0"/>
              </a:spcBef>
              <a:buNone/>
              <a:defRPr b="1" sz="1800">
                <a:solidFill>
                  <a:schemeClr val="lt1"/>
                </a:solidFill>
                <a:latin typeface="Cambria"/>
                <a:ea typeface="Cambria"/>
                <a:cs typeface="Cambria"/>
                <a:sym typeface="Cambria"/>
              </a:defRPr>
            </a:lvl7pPr>
            <a:lvl8pPr indent="0" lvl="7" marL="0" algn="r">
              <a:spcBef>
                <a:spcPts val="0"/>
              </a:spcBef>
              <a:buNone/>
              <a:defRPr b="1" sz="1800">
                <a:solidFill>
                  <a:schemeClr val="lt1"/>
                </a:solidFill>
                <a:latin typeface="Cambria"/>
                <a:ea typeface="Cambria"/>
                <a:cs typeface="Cambria"/>
                <a:sym typeface="Cambria"/>
              </a:defRPr>
            </a:lvl8pPr>
            <a:lvl9pPr indent="0" lvl="8" marL="0" algn="r">
              <a:spcBef>
                <a:spcPts val="0"/>
              </a:spcBef>
              <a:buNone/>
              <a:defRPr b="1" sz="1800">
                <a:solidFill>
                  <a:schemeClr val="lt1"/>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12" name="Google Shape;12;p1"/>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13" name="Google Shape;13;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4" name="Google Shape;14;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17" name="Google Shape;17;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8" name="Google Shape;18;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0" y="4013200"/>
              <a:ext cx="448733" cy="2844800"/>
            </a:xfrm>
            <a:prstGeom prst="triangle">
              <a:avLst>
                <a:gd fmla="val 0" name="adj"/>
              </a:avLst>
            </a:prstGeom>
            <a:solidFill>
              <a:schemeClr val="accent1">
                <a:alpha val="6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NP"/>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4"/>
          <p:cNvSpPr txBox="1"/>
          <p:nvPr/>
        </p:nvSpPr>
        <p:spPr>
          <a:xfrm>
            <a:off x="1507067" y="3252603"/>
            <a:ext cx="7767000" cy="13641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accent1"/>
              </a:buClr>
              <a:buSzPts val="1440"/>
              <a:buFont typeface="Noto Sans Symbols"/>
              <a:buNone/>
            </a:pPr>
            <a:r>
              <a:rPr lang="en-NP" sz="2000">
                <a:solidFill>
                  <a:srgbClr val="7F7F7F"/>
                </a:solidFill>
                <a:latin typeface="Cambria"/>
                <a:ea typeface="Cambria"/>
                <a:cs typeface="Cambria"/>
                <a:sym typeface="Cambria"/>
              </a:rPr>
              <a:t>Group </a:t>
            </a:r>
            <a:r>
              <a:rPr i="0" lang="en-NP" sz="2000" u="none" cap="none" strike="noStrike">
                <a:solidFill>
                  <a:srgbClr val="7F7F7F"/>
                </a:solidFill>
                <a:latin typeface="Cambria"/>
                <a:ea typeface="Cambria"/>
                <a:cs typeface="Cambria"/>
                <a:sym typeface="Cambria"/>
              </a:rPr>
              <a:t>Member Name 1, [Roll No]</a:t>
            </a:r>
            <a:endParaRPr sz="1600">
              <a:latin typeface="Cambria"/>
              <a:ea typeface="Cambria"/>
              <a:cs typeface="Cambria"/>
              <a:sym typeface="Cambria"/>
            </a:endParaRPr>
          </a:p>
          <a:p>
            <a:pPr indent="0" lvl="0" marL="0" marR="0" rtl="0" algn="ctr">
              <a:lnSpc>
                <a:spcPct val="80000"/>
              </a:lnSpc>
              <a:spcBef>
                <a:spcPts val="1000"/>
              </a:spcBef>
              <a:spcAft>
                <a:spcPts val="0"/>
              </a:spcAft>
              <a:buClr>
                <a:schemeClr val="accent1"/>
              </a:buClr>
              <a:buSzPts val="1440"/>
              <a:buFont typeface="Noto Sans Symbols"/>
              <a:buNone/>
            </a:pPr>
            <a:r>
              <a:rPr lang="en-NP" sz="2000">
                <a:solidFill>
                  <a:srgbClr val="7F7F7F"/>
                </a:solidFill>
                <a:latin typeface="Cambria"/>
                <a:ea typeface="Cambria"/>
                <a:cs typeface="Cambria"/>
                <a:sym typeface="Cambria"/>
              </a:rPr>
              <a:t>Group </a:t>
            </a:r>
            <a:r>
              <a:rPr i="0" lang="en-NP" sz="2000" u="none" cap="none" strike="noStrike">
                <a:solidFill>
                  <a:srgbClr val="7F7F7F"/>
                </a:solidFill>
                <a:latin typeface="Cambria"/>
                <a:ea typeface="Cambria"/>
                <a:cs typeface="Cambria"/>
                <a:sym typeface="Cambria"/>
              </a:rPr>
              <a:t>Member Name 2, [Roll No]</a:t>
            </a:r>
            <a:endParaRPr sz="1600">
              <a:latin typeface="Cambria"/>
              <a:ea typeface="Cambria"/>
              <a:cs typeface="Cambria"/>
              <a:sym typeface="Cambria"/>
            </a:endParaRPr>
          </a:p>
          <a:p>
            <a:pPr indent="0" lvl="0" marL="0" marR="0" rtl="0" algn="ctr">
              <a:lnSpc>
                <a:spcPct val="80000"/>
              </a:lnSpc>
              <a:spcBef>
                <a:spcPts val="1000"/>
              </a:spcBef>
              <a:spcAft>
                <a:spcPts val="0"/>
              </a:spcAft>
              <a:buClr>
                <a:schemeClr val="accent1"/>
              </a:buClr>
              <a:buSzPts val="1440"/>
              <a:buFont typeface="Noto Sans Symbols"/>
              <a:buNone/>
            </a:pPr>
            <a:r>
              <a:rPr lang="en-NP" sz="2000">
                <a:solidFill>
                  <a:srgbClr val="7F7F7F"/>
                </a:solidFill>
                <a:latin typeface="Cambria"/>
                <a:ea typeface="Cambria"/>
                <a:cs typeface="Cambria"/>
                <a:sym typeface="Cambria"/>
              </a:rPr>
              <a:t>Group </a:t>
            </a:r>
            <a:r>
              <a:rPr i="0" lang="en-NP" sz="2000" u="none" cap="none" strike="noStrike">
                <a:solidFill>
                  <a:srgbClr val="7F7F7F"/>
                </a:solidFill>
                <a:latin typeface="Cambria"/>
                <a:ea typeface="Cambria"/>
                <a:cs typeface="Cambria"/>
                <a:sym typeface="Cambria"/>
              </a:rPr>
              <a:t>Member Name 3, [Roll No]</a:t>
            </a:r>
            <a:endParaRPr sz="1600">
              <a:latin typeface="Cambria"/>
              <a:ea typeface="Cambria"/>
              <a:cs typeface="Cambria"/>
              <a:sym typeface="Cambria"/>
            </a:endParaRPr>
          </a:p>
          <a:p>
            <a:pPr indent="0" lvl="0" marL="0" marR="0" rtl="0" algn="ctr">
              <a:lnSpc>
                <a:spcPct val="80000"/>
              </a:lnSpc>
              <a:spcBef>
                <a:spcPts val="1000"/>
              </a:spcBef>
              <a:spcAft>
                <a:spcPts val="0"/>
              </a:spcAft>
              <a:buClr>
                <a:schemeClr val="accent1"/>
              </a:buClr>
              <a:buSzPts val="1440"/>
              <a:buFont typeface="Noto Sans Symbols"/>
              <a:buNone/>
            </a:pPr>
            <a:r>
              <a:t/>
            </a:r>
            <a:endParaRPr i="0" sz="2000" u="none" cap="none" strike="noStrike">
              <a:solidFill>
                <a:srgbClr val="7F7F7F"/>
              </a:solidFill>
              <a:latin typeface="Cambria"/>
              <a:ea typeface="Cambria"/>
              <a:cs typeface="Cambria"/>
              <a:sym typeface="Cambria"/>
            </a:endParaRPr>
          </a:p>
        </p:txBody>
      </p:sp>
      <p:sp>
        <p:nvSpPr>
          <p:cNvPr id="48" name="Google Shape;48;p4"/>
          <p:cNvSpPr txBox="1"/>
          <p:nvPr>
            <p:ph type="ctrTitle"/>
          </p:nvPr>
        </p:nvSpPr>
        <p:spPr>
          <a:xfrm>
            <a:off x="1570075" y="490250"/>
            <a:ext cx="7641000" cy="975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accent1"/>
              </a:buClr>
              <a:buSzPts val="5400"/>
              <a:buFont typeface="Trebuchet MS"/>
              <a:buNone/>
            </a:pPr>
            <a:r>
              <a:rPr b="1" lang="en-NP" sz="4800">
                <a:latin typeface="Cambria"/>
                <a:ea typeface="Cambria"/>
                <a:cs typeface="Cambria"/>
                <a:sym typeface="Cambria"/>
              </a:rPr>
              <a:t>PROJECT TITLE</a:t>
            </a:r>
            <a:endParaRPr b="1" sz="4800">
              <a:latin typeface="Cambria"/>
              <a:ea typeface="Cambria"/>
              <a:cs typeface="Cambria"/>
              <a:sym typeface="Cambria"/>
            </a:endParaRPr>
          </a:p>
        </p:txBody>
      </p:sp>
      <p:sp>
        <p:nvSpPr>
          <p:cNvPr id="49" name="Google Shape;49;p4"/>
          <p:cNvSpPr txBox="1"/>
          <p:nvPr>
            <p:ph idx="1" type="subTitle"/>
          </p:nvPr>
        </p:nvSpPr>
        <p:spPr>
          <a:xfrm>
            <a:off x="1507067" y="2215926"/>
            <a:ext cx="7766936" cy="53274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440"/>
              <a:buNone/>
            </a:pPr>
            <a:r>
              <a:rPr b="1" lang="en-NP" sz="2000">
                <a:latin typeface="Cambria"/>
                <a:ea typeface="Cambria"/>
                <a:cs typeface="Cambria"/>
                <a:sym typeface="Cambria"/>
              </a:rPr>
              <a:t>DEGREE / SEMESTER</a:t>
            </a:r>
            <a:endParaRPr b="1" sz="2000">
              <a:latin typeface="Cambria"/>
              <a:ea typeface="Cambria"/>
              <a:cs typeface="Cambria"/>
              <a:sym typeface="Cambria"/>
            </a:endParaRPr>
          </a:p>
        </p:txBody>
      </p:sp>
      <p:pic>
        <p:nvPicPr>
          <p:cNvPr descr="Logo&#10;&#10;Description automatically generated" id="50" name="Google Shape;50;p4"/>
          <p:cNvPicPr preferRelativeResize="0"/>
          <p:nvPr/>
        </p:nvPicPr>
        <p:blipFill rotWithShape="1">
          <a:blip r:embed="rId3">
            <a:alphaModFix/>
          </a:blip>
          <a:srcRect b="0" l="0" r="0" t="0"/>
          <a:stretch/>
        </p:blipFill>
        <p:spPr>
          <a:xfrm>
            <a:off x="2818087" y="4906775"/>
            <a:ext cx="5144915" cy="1189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Contents / Agenda</a:t>
            </a:r>
            <a:endParaRPr b="1">
              <a:latin typeface="Cambria"/>
              <a:ea typeface="Cambria"/>
              <a:cs typeface="Cambria"/>
              <a:sym typeface="Cambria"/>
            </a:endParaRPr>
          </a:p>
        </p:txBody>
      </p:sp>
      <p:sp>
        <p:nvSpPr>
          <p:cNvPr id="57" name="Google Shape;57;p5"/>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Autofit/>
          </a:bodyPr>
          <a:lstStyle/>
          <a:p>
            <a:pPr indent="-337312" lvl="0" marL="342900" rtl="0" algn="l">
              <a:lnSpc>
                <a:spcPct val="80000"/>
              </a:lnSpc>
              <a:spcBef>
                <a:spcPts val="0"/>
              </a:spcBef>
              <a:spcAft>
                <a:spcPts val="0"/>
              </a:spcAft>
              <a:buSzPts val="1832"/>
              <a:buFont typeface="Cambria"/>
              <a:buChar char="►"/>
            </a:pPr>
            <a:r>
              <a:rPr lang="en-NP" sz="2240">
                <a:latin typeface="Cambria"/>
                <a:ea typeface="Cambria"/>
                <a:cs typeface="Cambria"/>
                <a:sym typeface="Cambria"/>
              </a:rPr>
              <a:t>Introduction</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Problem Statement</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Motivation</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t>Objectives</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Char char="►"/>
            </a:pPr>
            <a:r>
              <a:rPr lang="en-NP" sz="2240"/>
              <a:t>Features</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Platform (Development Environment)</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Proposed Timeline [Gantt Chart]</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Business Model [for Final Year Student Only]</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Conclusion</a:t>
            </a:r>
            <a:endParaRPr sz="2240">
              <a:latin typeface="Cambria"/>
              <a:ea typeface="Cambria"/>
              <a:cs typeface="Cambria"/>
              <a:sym typeface="Cambria"/>
            </a:endParaRPr>
          </a:p>
          <a:p>
            <a:pPr indent="-220980" lvl="0" marL="342900" rtl="0" algn="l">
              <a:lnSpc>
                <a:spcPct val="80000"/>
              </a:lnSpc>
              <a:spcBef>
                <a:spcPts val="1000"/>
              </a:spcBef>
              <a:spcAft>
                <a:spcPts val="0"/>
              </a:spcAft>
              <a:buSzPts val="1632"/>
              <a:buNone/>
            </a:pPr>
            <a:r>
              <a:t/>
            </a:r>
            <a:endParaRPr sz="2240">
              <a:latin typeface="Cambria"/>
              <a:ea typeface="Cambria"/>
              <a:cs typeface="Cambria"/>
              <a:sym typeface="Cambria"/>
            </a:endParaRPr>
          </a:p>
        </p:txBody>
      </p:sp>
      <p:sp>
        <p:nvSpPr>
          <p:cNvPr id="58" name="Google Shape;58;p5"/>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Introduction</a:t>
            </a:r>
            <a:r>
              <a:rPr b="1" lang="en-NP">
                <a:latin typeface="Cambria"/>
                <a:ea typeface="Cambria"/>
                <a:cs typeface="Cambria"/>
                <a:sym typeface="Cambria"/>
              </a:rPr>
              <a:t> [FONT-SIZE: 36pts]</a:t>
            </a:r>
            <a:endParaRPr b="1">
              <a:latin typeface="Cambria"/>
              <a:ea typeface="Cambria"/>
              <a:cs typeface="Cambria"/>
              <a:sym typeface="Cambria"/>
            </a:endParaRPr>
          </a:p>
        </p:txBody>
      </p:sp>
      <p:sp>
        <p:nvSpPr>
          <p:cNvPr id="65" name="Google Shape;65;p6"/>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66" name="Google Shape;66;p6"/>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Problem Statement [FONT-SIZE: 36pts]</a:t>
            </a:r>
            <a:endParaRPr b="1">
              <a:latin typeface="Cambria"/>
              <a:ea typeface="Cambria"/>
              <a:cs typeface="Cambria"/>
              <a:sym typeface="Cambria"/>
            </a:endParaRPr>
          </a:p>
        </p:txBody>
      </p:sp>
      <p:sp>
        <p:nvSpPr>
          <p:cNvPr id="73" name="Google Shape;73;p7"/>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74" name="Google Shape;74;p7"/>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Motivation [FONT-SIZE: 36pts]</a:t>
            </a:r>
            <a:endParaRPr b="1">
              <a:latin typeface="Cambria"/>
              <a:ea typeface="Cambria"/>
              <a:cs typeface="Cambria"/>
              <a:sym typeface="Cambria"/>
            </a:endParaRPr>
          </a:p>
        </p:txBody>
      </p:sp>
      <p:sp>
        <p:nvSpPr>
          <p:cNvPr id="81" name="Google Shape;81;p8"/>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82" name="Google Shape;82;p8"/>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Objective [FONT-SIZE: 36pts]</a:t>
            </a:r>
            <a:endParaRPr b="1">
              <a:latin typeface="Cambria"/>
              <a:ea typeface="Cambria"/>
              <a:cs typeface="Cambria"/>
              <a:sym typeface="Cambria"/>
            </a:endParaRPr>
          </a:p>
        </p:txBody>
      </p:sp>
      <p:sp>
        <p:nvSpPr>
          <p:cNvPr id="89" name="Google Shape;89;p9"/>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90" name="Google Shape;90;p9"/>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Features [FONT-SIZE: 36pts]</a:t>
            </a:r>
            <a:endParaRPr b="1">
              <a:latin typeface="Cambria"/>
              <a:ea typeface="Cambria"/>
              <a:cs typeface="Cambria"/>
              <a:sym typeface="Cambria"/>
            </a:endParaRPr>
          </a:p>
        </p:txBody>
      </p:sp>
      <p:sp>
        <p:nvSpPr>
          <p:cNvPr id="97" name="Google Shape;97;p10"/>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98" name="Google Shape;98;p10"/>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Platform/Dev. Environment</a:t>
            </a:r>
            <a:endParaRPr b="1">
              <a:latin typeface="Cambria"/>
              <a:ea typeface="Cambria"/>
              <a:cs typeface="Cambria"/>
              <a:sym typeface="Cambria"/>
            </a:endParaRPr>
          </a:p>
        </p:txBody>
      </p:sp>
      <p:sp>
        <p:nvSpPr>
          <p:cNvPr id="105" name="Google Shape;105;p11"/>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106" name="Google Shape;106;p11"/>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Planned Timeline/Gantt Chart</a:t>
            </a:r>
            <a:endParaRPr b="1">
              <a:latin typeface="Cambria"/>
              <a:ea typeface="Cambria"/>
              <a:cs typeface="Cambria"/>
              <a:sym typeface="Cambria"/>
            </a:endParaRPr>
          </a:p>
        </p:txBody>
      </p:sp>
      <p:sp>
        <p:nvSpPr>
          <p:cNvPr id="113" name="Google Shape;113;p12"/>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pic>
        <p:nvPicPr>
          <p:cNvPr id="114" name="Google Shape;114;p12"/>
          <p:cNvPicPr preferRelativeResize="0"/>
          <p:nvPr/>
        </p:nvPicPr>
        <p:blipFill>
          <a:blip r:embed="rId3">
            <a:alphaModFix/>
          </a:blip>
          <a:stretch>
            <a:fillRect/>
          </a:stretch>
        </p:blipFill>
        <p:spPr>
          <a:xfrm>
            <a:off x="809775" y="1489000"/>
            <a:ext cx="10417272" cy="4978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3"/>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Business Model </a:t>
            </a:r>
            <a:r>
              <a:rPr b="1" lang="en-NP" sz="2200">
                <a:latin typeface="Cambria"/>
                <a:ea typeface="Cambria"/>
                <a:cs typeface="Cambria"/>
                <a:sym typeface="Cambria"/>
              </a:rPr>
              <a:t>[for Final Year Project Only]</a:t>
            </a:r>
            <a:endParaRPr b="1" sz="2200">
              <a:latin typeface="Cambria"/>
              <a:ea typeface="Cambria"/>
              <a:cs typeface="Cambria"/>
              <a:sym typeface="Cambria"/>
            </a:endParaRPr>
          </a:p>
        </p:txBody>
      </p:sp>
      <p:sp>
        <p:nvSpPr>
          <p:cNvPr id="121" name="Google Shape;121;p13"/>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122" name="Google Shape;122;p13"/>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Conclusion [FONT-SIZE: 36pts]</a:t>
            </a:r>
            <a:endParaRPr b="1">
              <a:latin typeface="Cambria"/>
              <a:ea typeface="Cambria"/>
              <a:cs typeface="Cambria"/>
              <a:sym typeface="Cambria"/>
            </a:endParaRPr>
          </a:p>
        </p:txBody>
      </p:sp>
      <p:sp>
        <p:nvSpPr>
          <p:cNvPr id="129" name="Google Shape;129;p14"/>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130" name="Google Shape;130;p14"/>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5"/>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Questions/Queries…</a:t>
            </a:r>
            <a:endParaRPr b="1">
              <a:latin typeface="Cambria"/>
              <a:ea typeface="Cambria"/>
              <a:cs typeface="Cambria"/>
              <a:sym typeface="Cambria"/>
            </a:endParaRPr>
          </a:p>
        </p:txBody>
      </p:sp>
      <p:sp>
        <p:nvSpPr>
          <p:cNvPr id="137" name="Google Shape;137;p15"/>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t/>
            </a:r>
            <a:endParaRPr>
              <a:latin typeface="Cambria"/>
              <a:ea typeface="Cambria"/>
              <a:cs typeface="Cambria"/>
              <a:sym typeface="Cambria"/>
            </a:endParaRPr>
          </a:p>
        </p:txBody>
      </p:sp>
      <p:sp>
        <p:nvSpPr>
          <p:cNvPr id="138" name="Google Shape;138;p15"/>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